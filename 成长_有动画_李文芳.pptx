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8"/>
  </p:notesMasterIdLst>
  <p:sldIdLst>
    <p:sldId id="261" r:id="rId4"/>
    <p:sldId id="271" r:id="rId5"/>
    <p:sldId id="273" r:id="rId6"/>
    <p:sldId id="272" r:id="rId7"/>
    <p:sldId id="275" r:id="rId9"/>
    <p:sldId id="274" r:id="rId10"/>
    <p:sldId id="287" r:id="rId11"/>
    <p:sldId id="277" r:id="rId12"/>
    <p:sldId id="276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5" r:id="rId39"/>
    <p:sldId id="306" r:id="rId40"/>
    <p:sldId id="315" r:id="rId41"/>
    <p:sldId id="314" r:id="rId42"/>
    <p:sldId id="307" r:id="rId43"/>
    <p:sldId id="313" r:id="rId44"/>
    <p:sldId id="308" r:id="rId45"/>
    <p:sldId id="311" r:id="rId46"/>
    <p:sldId id="312" r:id="rId4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标题"/>
          <p:cNvSpPr txBox="1">
            <a:spLocks noGrp="1"/>
          </p:cNvSpPr>
          <p:nvPr>
            <p:ph type="title" idx="2" hasCustomPrompt="1"/>
            <p:custDataLst>
              <p:tags r:id="rId3"/>
            </p:custDataLst>
          </p:nvPr>
        </p:nvSpPr>
        <p:spPr>
          <a:xfrm>
            <a:off x="4176395" y="3316586"/>
            <a:ext cx="6257925" cy="16452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单击编辑标题</a:t>
            </a:r>
            <a:endParaRPr dirty="0">
              <a:sym typeface="+mn-ea"/>
            </a:endParaRPr>
          </a:p>
        </p:txBody>
      </p:sp>
      <p:sp>
        <p:nvSpPr>
          <p:cNvPr id="10" name="节编号"/>
          <p:cNvSpPr txBox="1"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399681" y="1979230"/>
            <a:ext cx="4034659" cy="115189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顶角 12"/>
          <p:cNvSpPr/>
          <p:nvPr userDrawn="1">
            <p:custDataLst>
              <p:tags r:id="rId8"/>
            </p:custDataLst>
          </p:nvPr>
        </p:nvSpPr>
        <p:spPr>
          <a:xfrm rot="2160000" flipH="1">
            <a:off x="2314395" y="2028634"/>
            <a:ext cx="1498714" cy="288283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9"/>
            </p:custDataLst>
          </p:nvPr>
        </p:nvSpPr>
        <p:spPr>
          <a:xfrm rot="12960000" flipH="1">
            <a:off x="1374377" y="1923376"/>
            <a:ext cx="1498714" cy="292305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288565" y="1318468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: 圆顶角 12"/>
          <p:cNvSpPr/>
          <p:nvPr userDrawn="1">
            <p:custDataLst>
              <p:tags r:id="rId7"/>
            </p:custDataLst>
          </p:nvPr>
        </p:nvSpPr>
        <p:spPr>
          <a:xfrm rot="2700000" flipH="1" flipV="1">
            <a:off x="8203681" y="2169756"/>
            <a:ext cx="2033110" cy="378453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8"/>
            </p:custDataLst>
          </p:nvPr>
        </p:nvSpPr>
        <p:spPr>
          <a:xfrm rot="13500000" flipH="1" flipV="1">
            <a:off x="7899822" y="902160"/>
            <a:ext cx="2033110" cy="383734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  <a:sym typeface="+mn-ea"/>
            </a:endParaRPr>
          </a:p>
        </p:txBody>
      </p:sp>
      <p:sp>
        <p:nvSpPr>
          <p:cNvPr id="19" name="标题"/>
          <p:cNvSpPr txBox="1">
            <a:spLocks noGrp="1"/>
          </p:cNvSpPr>
          <p:nvPr>
            <p:ph type="title" idx="6" hasCustomPrompt="1"/>
            <p:custDataLst>
              <p:tags r:id="rId9"/>
            </p:custDataLst>
          </p:nvPr>
        </p:nvSpPr>
        <p:spPr>
          <a:xfrm>
            <a:off x="837565" y="2005330"/>
            <a:ext cx="5723255" cy="13836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</a:t>
            </a:r>
            <a:br>
              <a:rPr dirty="0">
                <a:sym typeface="+mn-ea"/>
              </a:rPr>
            </a:br>
            <a:r>
              <a:rPr dirty="0">
                <a:sym typeface="+mn-ea"/>
              </a:rPr>
              <a:t>编辑标题样式</a:t>
            </a:r>
            <a:endParaRPr dirty="0">
              <a:sym typeface="+mn-ea"/>
            </a:endParaRPr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837565" y="4244627"/>
            <a:ext cx="2670175" cy="5743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 flipH="1">
            <a:off x="1069947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 flipH="1">
            <a:off x="1069947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0" Type="http://schemas.openxmlformats.org/officeDocument/2006/relationships/notesSlide" Target="../notesSlides/notesSlide1.xml"/><Relationship Id="rId2" Type="http://schemas.openxmlformats.org/officeDocument/2006/relationships/tags" Target="../tags/tag45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98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2.xml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037715" y="2217420"/>
            <a:ext cx="8116570" cy="24237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zh-CN" sz="6000"/>
              <a:t>解</a:t>
            </a:r>
            <a:r>
              <a:rPr lang="en-US" altLang="zh-CN" sz="6000"/>
              <a:t> </a:t>
            </a:r>
            <a:r>
              <a:rPr lang="zh-CN" sz="6000"/>
              <a:t>锁</a:t>
            </a:r>
            <a:r>
              <a:rPr lang="en-US" altLang="zh-CN" sz="6000"/>
              <a:t>  </a:t>
            </a:r>
            <a:r>
              <a:rPr lang="zh-CN" sz="8000"/>
              <a:t>成</a:t>
            </a:r>
            <a:r>
              <a:rPr lang="en-US" altLang="zh-CN" sz="8000"/>
              <a:t> </a:t>
            </a:r>
            <a:r>
              <a:rPr lang="zh-CN" sz="8000"/>
              <a:t>长</a:t>
            </a:r>
            <a:r>
              <a:rPr lang="en-US" altLang="zh-CN" sz="7200"/>
              <a:t>  </a:t>
            </a:r>
            <a:r>
              <a:rPr lang="zh-CN" sz="6000"/>
              <a:t>密</a:t>
            </a:r>
            <a:r>
              <a:rPr lang="en-US" altLang="zh-CN" sz="6000"/>
              <a:t> </a:t>
            </a:r>
            <a:r>
              <a:rPr lang="zh-CN" sz="6000"/>
              <a:t>码</a:t>
            </a:r>
            <a:endParaRPr lang="zh-CN" sz="6000"/>
          </a:p>
          <a:p>
            <a:pPr algn="ctr">
              <a:lnSpc>
                <a:spcPct val="110000"/>
              </a:lnSpc>
            </a:pPr>
            <a:r>
              <a:rPr lang="zh-CN" sz="6000"/>
              <a:t>探</a:t>
            </a:r>
            <a:r>
              <a:rPr lang="en-US" altLang="zh-CN" sz="6000"/>
              <a:t> </a:t>
            </a:r>
            <a:r>
              <a:rPr lang="zh-CN" sz="6000"/>
              <a:t>寻</a:t>
            </a:r>
            <a:r>
              <a:rPr lang="en-US" altLang="zh-CN" sz="6000"/>
              <a:t>  </a:t>
            </a:r>
            <a:r>
              <a:rPr lang="zh-CN" sz="8000"/>
              <a:t>青</a:t>
            </a:r>
            <a:r>
              <a:rPr lang="en-US" altLang="zh-CN" sz="8000"/>
              <a:t> </a:t>
            </a:r>
            <a:r>
              <a:rPr lang="zh-CN" sz="8000"/>
              <a:t>春</a:t>
            </a:r>
            <a:r>
              <a:rPr lang="en-US" altLang="zh-CN" sz="6600"/>
              <a:t>  </a:t>
            </a:r>
            <a:r>
              <a:rPr lang="zh-CN" sz="6000"/>
              <a:t>答</a:t>
            </a:r>
            <a:r>
              <a:rPr lang="en-US" altLang="zh-CN" sz="6000"/>
              <a:t> </a:t>
            </a:r>
            <a:r>
              <a:rPr lang="zh-CN" sz="6000"/>
              <a:t>案</a:t>
            </a:r>
            <a:endParaRPr lang="zh-CN" sz="6000"/>
          </a:p>
        </p:txBody>
      </p:sp>
      <p:sp>
        <p:nvSpPr>
          <p:cNvPr id="2" name="标题 1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0" y="6562090"/>
            <a:ext cx="4711700" cy="29591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" altLang="en-US" sz="1800"/>
              <a:t>©</a:t>
            </a:r>
            <a:r>
              <a:rPr lang="en-US" sz="1800"/>
              <a:t> 2025 Li Wenfang(1724834368@qq.com)</a:t>
            </a:r>
            <a:endParaRPr lang="en-US" altLang="en-US" sz="18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268855" y="2958465"/>
            <a:ext cx="8116570" cy="94043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7200"/>
              <a:t>成长</a:t>
            </a:r>
            <a:r>
              <a:rPr lang="en-US" altLang="zh-CN" sz="6600"/>
              <a:t> · </a:t>
            </a:r>
            <a:r>
              <a:rPr lang="zh-CN" altLang="en-US" sz="6600"/>
              <a:t>搞钱</a:t>
            </a:r>
            <a:r>
              <a:rPr lang="en-US" altLang="zh-CN" sz="6600"/>
              <a:t> · </a:t>
            </a:r>
            <a:r>
              <a:rPr lang="zh-CN" altLang="en-US" sz="6600"/>
              <a:t>救赎</a:t>
            </a:r>
            <a:endParaRPr lang="zh-CN" altLang="en-US" sz="66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881380" y="1790700"/>
            <a:ext cx="570992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人工智能</a:t>
            </a:r>
            <a:r>
              <a:rPr lang="en-US" altLang="zh-CN" sz="2800">
                <a:sym typeface="+mn-ea"/>
              </a:rPr>
              <a:t> = </a:t>
            </a:r>
            <a:r>
              <a:rPr lang="zh-CN" altLang="en-US">
                <a:sym typeface="+mn-ea"/>
              </a:rPr>
              <a:t>算法</a:t>
            </a:r>
            <a:r>
              <a:rPr lang="en-US" altLang="zh-CN" sz="2800">
                <a:sym typeface="+mn-ea"/>
              </a:rPr>
              <a:t> + </a:t>
            </a:r>
            <a:r>
              <a:rPr lang="zh-CN" altLang="en-US">
                <a:sym typeface="+mn-ea"/>
              </a:rPr>
              <a:t>数据</a:t>
            </a:r>
            <a:endParaRPr lang="zh-CN" altLang="en-US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328420" y="2352040"/>
            <a:ext cx="9930765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buClrTx/>
              <a:buSzTx/>
              <a:buFont typeface="Arial" panose="020B0604020202020204" pitchFamily="34" charset="0"/>
            </a:pPr>
            <a:r>
              <a:rPr lang="zh-CN" altLang="en-US" sz="2000">
                <a:sym typeface="+mn-ea"/>
              </a:rPr>
              <a:t>人工智能的成长：通过数据的</a:t>
            </a:r>
            <a:r>
              <a:rPr lang="zh-CN" altLang="en-US" sz="2000" u="sng">
                <a:sym typeface="+mn-ea"/>
              </a:rPr>
              <a:t>积累与分析</a:t>
            </a:r>
            <a:r>
              <a:rPr lang="zh-CN" altLang="en-US" sz="2000">
                <a:sym typeface="+mn-ea"/>
              </a:rPr>
              <a:t>，完善算法，实现以已知</a:t>
            </a:r>
            <a:r>
              <a:rPr lang="zh-CN" altLang="en-US" sz="2000" u="sng">
                <a:sym typeface="+mn-ea"/>
              </a:rPr>
              <a:t>预测、应对</a:t>
            </a:r>
            <a:r>
              <a:rPr lang="zh-CN" altLang="en-US" sz="2000">
                <a:sym typeface="+mn-ea"/>
              </a:rPr>
              <a:t>未知。</a:t>
            </a:r>
            <a:endParaRPr lang="zh-CN" altLang="en-US" sz="2000"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93140" y="3949700"/>
            <a:ext cx="570992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人类</a:t>
            </a:r>
            <a:r>
              <a:rPr lang="en-US" altLang="zh-CN" sz="2800">
                <a:sym typeface="+mn-ea"/>
              </a:rPr>
              <a:t> = </a:t>
            </a:r>
            <a:r>
              <a:rPr lang="zh-CN" altLang="en-US">
                <a:sym typeface="+mn-ea"/>
              </a:rPr>
              <a:t>意识</a:t>
            </a:r>
            <a:r>
              <a:rPr lang="en-US" altLang="zh-CN" sz="2800">
                <a:sym typeface="+mn-ea"/>
              </a:rPr>
              <a:t> + </a:t>
            </a:r>
            <a:r>
              <a:rPr lang="zh-CN" altLang="en-US">
                <a:sym typeface="+mn-ea"/>
              </a:rPr>
              <a:t>经历</a:t>
            </a:r>
            <a:endParaRPr lang="zh-CN" altLang="en-US"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440180" y="4511040"/>
            <a:ext cx="9930765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buClrTx/>
              <a:buSzTx/>
              <a:buFont typeface="Arial" panose="020B0604020202020204" pitchFamily="34" charset="0"/>
            </a:pPr>
            <a:r>
              <a:rPr lang="zh-CN" altLang="en-US" sz="2000">
                <a:sym typeface="+mn-ea"/>
              </a:rPr>
              <a:t>人类的成长：通过经验的</a:t>
            </a:r>
            <a:r>
              <a:rPr lang="zh-CN" altLang="en-US" sz="2000" u="sng">
                <a:sym typeface="+mn-ea"/>
              </a:rPr>
              <a:t>积累与总结</a:t>
            </a:r>
            <a:r>
              <a:rPr lang="zh-CN" altLang="en-US" sz="2000">
                <a:sym typeface="+mn-ea"/>
              </a:rPr>
              <a:t>，完善意识，实现以已知</a:t>
            </a:r>
            <a:r>
              <a:rPr lang="zh-CN" altLang="en-US" sz="2000" u="sng">
                <a:sym typeface="+mn-ea"/>
              </a:rPr>
              <a:t>预测、应对、创造</a:t>
            </a:r>
            <a:r>
              <a:rPr lang="zh-CN" altLang="en-US" sz="2000">
                <a:sym typeface="+mn-ea"/>
              </a:rPr>
              <a:t>未知。</a:t>
            </a:r>
            <a:endParaRPr lang="zh-CN" altLang="en-US" sz="200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7" grpId="0"/>
      <p:bldP spid="7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成长</a:t>
            </a:r>
            <a:r>
              <a:rPr lang="zh-CN" altLang="en-US" sz="2000">
                <a:sym typeface="+mn-ea"/>
              </a:rPr>
              <a:t>是什么、重要性</a:t>
            </a:r>
            <a:endParaRPr lang="zh-CN" altLang="en-US" sz="2000"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1"/>
            </p:custDataLst>
          </p:nvPr>
        </p:nvSpPr>
        <p:spPr>
          <a:xfrm>
            <a:off x="1851025" y="3488690"/>
            <a:ext cx="1130300" cy="68199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10000"/>
              </a:lnSpc>
            </a:pPr>
            <a:r>
              <a:rPr lang="zh-CN" altLang="en-US" sz="2000" b="1">
                <a:latin typeface="+mj-ea"/>
                <a:ea typeface="+mj-ea"/>
              </a:rPr>
              <a:t>生理上</a:t>
            </a:r>
            <a:endParaRPr lang="zh-CN" altLang="en-US" sz="2000" b="1">
              <a:latin typeface="+mj-ea"/>
              <a:ea typeface="+mj-ea"/>
            </a:endParaRPr>
          </a:p>
        </p:txBody>
      </p:sp>
      <p:sp>
        <p:nvSpPr>
          <p:cNvPr id="10" name="圆角矩形 9"/>
          <p:cNvSpPr/>
          <p:nvPr>
            <p:custDataLst>
              <p:tags r:id="rId2"/>
            </p:custDataLst>
          </p:nvPr>
        </p:nvSpPr>
        <p:spPr>
          <a:xfrm>
            <a:off x="838835" y="1606550"/>
            <a:ext cx="3154680" cy="159639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sym typeface="+mn-ea"/>
              </a:rPr>
              <a:t>指生物体</a:t>
            </a:r>
            <a:r>
              <a:rPr lang="zh-CN" altLang="en-US" sz="1400" b="1" u="sng">
                <a:latin typeface="+mj-ea"/>
                <a:ea typeface="+mj-ea"/>
                <a:sym typeface="+mn-ea"/>
              </a:rPr>
              <a:t>从出生到成熟</a:t>
            </a:r>
            <a:r>
              <a:rPr lang="zh-CN" altLang="en-US" sz="1400" b="1">
                <a:latin typeface="+mj-ea"/>
                <a:ea typeface="+mj-ea"/>
                <a:sym typeface="+mn-ea"/>
              </a:rPr>
              <a:t>过程中，身体各器官和系统在形态、结构和功能上逐渐发育完善的过程。表现为身高体重增加、身体机能增强、各器官功能成熟等，是一个受遗传和环境因素共同影响的自然发展过程</a:t>
            </a:r>
            <a:endParaRPr lang="zh-CN" altLang="en-US" sz="1400" b="1">
              <a:latin typeface="+mj-ea"/>
              <a:ea typeface="+mj-ea"/>
              <a:sym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3"/>
            </p:custDataLst>
          </p:nvPr>
        </p:nvSpPr>
        <p:spPr>
          <a:xfrm>
            <a:off x="5334635" y="3513455"/>
            <a:ext cx="1130300" cy="65722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10000"/>
              </a:lnSpc>
            </a:pPr>
            <a:r>
              <a:rPr lang="zh-CN" altLang="en-US" sz="2000" b="1">
                <a:latin typeface="+mj-ea"/>
                <a:ea typeface="+mj-ea"/>
              </a:rPr>
              <a:t>心理上</a:t>
            </a:r>
            <a:endParaRPr lang="zh-CN" altLang="en-US" sz="2000" b="1">
              <a:latin typeface="+mj-ea"/>
              <a:ea typeface="+mj-ea"/>
            </a:endParaRPr>
          </a:p>
        </p:txBody>
      </p:sp>
      <p:sp>
        <p:nvSpPr>
          <p:cNvPr id="15" name="圆角矩形 14"/>
          <p:cNvSpPr/>
          <p:nvPr>
            <p:custDataLst>
              <p:tags r:id="rId4"/>
            </p:custDataLst>
          </p:nvPr>
        </p:nvSpPr>
        <p:spPr>
          <a:xfrm>
            <a:off x="4322445" y="1405890"/>
            <a:ext cx="3154680" cy="18091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sym typeface="+mn-ea"/>
              </a:rPr>
              <a:t>是个体在心理方面不断发展和完善的过程，包括认知能力的提升，如感知、记忆、思维等；情绪管理能力的增强，能更好地理解和调节情绪；以及人格的逐渐形成与完善，使个体在面对生活事件时具备更成熟的应对方式。</a:t>
            </a:r>
            <a:endParaRPr lang="zh-CN" altLang="en-US" sz="1400" b="1">
              <a:latin typeface="+mj-ea"/>
              <a:ea typeface="+mj-ea"/>
              <a:sym typeface="+mn-ea"/>
            </a:endParaRPr>
          </a:p>
        </p:txBody>
      </p:sp>
      <p:sp>
        <p:nvSpPr>
          <p:cNvPr id="20" name="圆角矩形 19"/>
          <p:cNvSpPr/>
          <p:nvPr>
            <p:custDataLst>
              <p:tags r:id="rId5"/>
            </p:custDataLst>
          </p:nvPr>
        </p:nvSpPr>
        <p:spPr>
          <a:xfrm>
            <a:off x="8818245" y="3513455"/>
            <a:ext cx="1130300" cy="65722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10000"/>
              </a:lnSpc>
            </a:pPr>
            <a:r>
              <a:rPr lang="zh-CN" altLang="en-US" sz="2000" b="1">
                <a:latin typeface="+mj-ea"/>
                <a:ea typeface="+mj-ea"/>
              </a:rPr>
              <a:t>精神上</a:t>
            </a:r>
            <a:endParaRPr lang="zh-CN" altLang="en-US" sz="2000" b="1">
              <a:latin typeface="+mj-ea"/>
              <a:ea typeface="+mj-ea"/>
            </a:endParaRPr>
          </a:p>
        </p:txBody>
      </p:sp>
      <p:sp>
        <p:nvSpPr>
          <p:cNvPr id="21" name="圆角矩形 20"/>
          <p:cNvSpPr/>
          <p:nvPr>
            <p:custDataLst>
              <p:tags r:id="rId6"/>
            </p:custDataLst>
          </p:nvPr>
        </p:nvSpPr>
        <p:spPr>
          <a:xfrm>
            <a:off x="7806055" y="1391285"/>
            <a:ext cx="3154680" cy="18091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sym typeface="+mn-ea"/>
              </a:rPr>
              <a:t>侧重于个体在精神层面的发展与升华，是对</a:t>
            </a:r>
            <a:r>
              <a:rPr lang="zh-CN" altLang="en-US" sz="1400" b="1" u="sng">
                <a:latin typeface="+mj-ea"/>
                <a:ea typeface="+mj-ea"/>
                <a:sym typeface="+mn-ea"/>
              </a:rPr>
              <a:t>人生意义、价值</a:t>
            </a:r>
            <a:r>
              <a:rPr lang="zh-CN" altLang="en-US" sz="1400" b="1">
                <a:latin typeface="+mj-ea"/>
                <a:ea typeface="+mj-ea"/>
                <a:sym typeface="+mn-ea"/>
              </a:rPr>
              <a:t>的不断探索和领悟，表现为信仰的建立、道德品质的提升、对自我和世界的认知更加深刻，从而获得内心的充实与安宁，拥有明确的人生方向和精神追求。</a:t>
            </a:r>
            <a:endParaRPr lang="zh-CN" altLang="en-US" sz="1400" b="1">
              <a:latin typeface="+mj-ea"/>
              <a:ea typeface="+mj-ea"/>
              <a:sym typeface="+mn-ea"/>
            </a:endParaRPr>
          </a:p>
        </p:txBody>
      </p:sp>
      <p:cxnSp>
        <p:nvCxnSpPr>
          <p:cNvPr id="34" name="直接连接符 33"/>
          <p:cNvCxnSpPr>
            <a:stCxn id="8" idx="0"/>
            <a:endCxn id="10" idx="2"/>
          </p:cNvCxnSpPr>
          <p:nvPr>
            <p:custDataLst>
              <p:tags r:id="rId7"/>
            </p:custDataLst>
          </p:nvPr>
        </p:nvCxnSpPr>
        <p:spPr>
          <a:xfrm flipV="1">
            <a:off x="2416175" y="3202940"/>
            <a:ext cx="0" cy="2857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stCxn id="14" idx="0"/>
            <a:endCxn id="15" idx="2"/>
          </p:cNvCxnSpPr>
          <p:nvPr>
            <p:custDataLst>
              <p:tags r:id="rId8"/>
            </p:custDataLst>
          </p:nvPr>
        </p:nvCxnSpPr>
        <p:spPr>
          <a:xfrm flipV="1">
            <a:off x="5899785" y="3215005"/>
            <a:ext cx="0" cy="2984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20" idx="0"/>
            <a:endCxn id="21" idx="2"/>
          </p:cNvCxnSpPr>
          <p:nvPr>
            <p:custDataLst>
              <p:tags r:id="rId9"/>
            </p:custDataLst>
          </p:nvPr>
        </p:nvCxnSpPr>
        <p:spPr>
          <a:xfrm flipV="1">
            <a:off x="9383395" y="3200400"/>
            <a:ext cx="0" cy="31305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8" idx="3"/>
            <a:endCxn id="14" idx="1"/>
          </p:cNvCxnSpPr>
          <p:nvPr>
            <p:custDataLst>
              <p:tags r:id="rId10"/>
            </p:custDataLst>
          </p:nvPr>
        </p:nvCxnSpPr>
        <p:spPr>
          <a:xfrm>
            <a:off x="2981325" y="3829685"/>
            <a:ext cx="2353310" cy="1270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肘形连接符 56"/>
          <p:cNvCxnSpPr>
            <a:stCxn id="14" idx="3"/>
            <a:endCxn id="20" idx="1"/>
          </p:cNvCxnSpPr>
          <p:nvPr>
            <p:custDataLst>
              <p:tags r:id="rId11"/>
            </p:custDataLst>
          </p:nvPr>
        </p:nvCxnSpPr>
        <p:spPr>
          <a:xfrm>
            <a:off x="6464935" y="3842385"/>
            <a:ext cx="2353310" cy="3175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stCxn id="8" idx="1"/>
          </p:cNvCxnSpPr>
          <p:nvPr/>
        </p:nvCxnSpPr>
        <p:spPr>
          <a:xfrm flipH="1">
            <a:off x="-969010" y="3829685"/>
            <a:ext cx="2820035" cy="254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H="1" flipV="1">
            <a:off x="9971405" y="3843655"/>
            <a:ext cx="2797175" cy="19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圆角矩形 66"/>
          <p:cNvSpPr/>
          <p:nvPr>
            <p:custDataLst>
              <p:tags r:id="rId12"/>
            </p:custDataLst>
          </p:nvPr>
        </p:nvSpPr>
        <p:spPr>
          <a:xfrm>
            <a:off x="838835" y="4458970"/>
            <a:ext cx="3154680" cy="138684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sym typeface="+mn-ea"/>
              </a:rPr>
              <a:t>生理成长是</a:t>
            </a:r>
            <a:r>
              <a:rPr lang="zh-CN" altLang="en-US" sz="1400" b="1" u="sng">
                <a:latin typeface="+mj-ea"/>
                <a:ea typeface="+mj-ea"/>
                <a:sym typeface="+mn-ea"/>
              </a:rPr>
              <a:t>一切的基础</a:t>
            </a:r>
            <a:r>
              <a:rPr lang="zh-CN" altLang="en-US" sz="1400" b="1">
                <a:latin typeface="+mj-ea"/>
                <a:ea typeface="+mj-ea"/>
                <a:sym typeface="+mn-ea"/>
              </a:rPr>
              <a:t>，它使我们拥有健康的体魄和良好的身体机能，能让我们具备足够的体力与精力去学习、工作和生活，实现各种人生目标。</a:t>
            </a:r>
            <a:endParaRPr lang="zh-CN" altLang="en-US" sz="1400" b="1">
              <a:latin typeface="+mj-ea"/>
              <a:ea typeface="+mj-ea"/>
              <a:sym typeface="+mn-ea"/>
            </a:endParaRPr>
          </a:p>
        </p:txBody>
      </p:sp>
      <p:sp>
        <p:nvSpPr>
          <p:cNvPr id="68" name="圆角矩形 67"/>
          <p:cNvSpPr/>
          <p:nvPr>
            <p:custDataLst>
              <p:tags r:id="rId13"/>
            </p:custDataLst>
          </p:nvPr>
        </p:nvSpPr>
        <p:spPr>
          <a:xfrm>
            <a:off x="4322445" y="4469130"/>
            <a:ext cx="3154680" cy="138176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sym typeface="+mn-ea"/>
              </a:rPr>
              <a:t>心理成长有助于我们更好地应对生活中的压力与挑战，形成积极的思维方式和稳定的情绪，从而建立良好的人际关系，提升生活质量和幸福感。</a:t>
            </a:r>
            <a:endParaRPr lang="zh-CN" altLang="en-US" sz="1400" b="1">
              <a:latin typeface="+mj-ea"/>
              <a:ea typeface="+mj-ea"/>
              <a:sym typeface="+mn-ea"/>
            </a:endParaRPr>
          </a:p>
        </p:txBody>
      </p:sp>
      <p:sp>
        <p:nvSpPr>
          <p:cNvPr id="70" name="圆角矩形 69"/>
          <p:cNvSpPr/>
          <p:nvPr>
            <p:custDataLst>
              <p:tags r:id="rId14"/>
            </p:custDataLst>
          </p:nvPr>
        </p:nvSpPr>
        <p:spPr>
          <a:xfrm>
            <a:off x="7806055" y="4443730"/>
            <a:ext cx="3154680" cy="122428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latin typeface="+mj-ea"/>
                <a:ea typeface="+mj-ea"/>
                <a:sym typeface="+mn-ea"/>
              </a:rPr>
              <a:t>精神成长为我们提供了人生的方向和意义，让我们拥有坚定的信仰和高尚的道德情操，在面对困境时保持内心的强大，实现自我价值和精神富足。</a:t>
            </a:r>
            <a:endParaRPr lang="zh-CN" altLang="en-US" sz="1400" b="1">
              <a:latin typeface="+mj-ea"/>
              <a:ea typeface="+mj-ea"/>
              <a:sym typeface="+mn-ea"/>
            </a:endParaRPr>
          </a:p>
        </p:txBody>
      </p:sp>
      <p:cxnSp>
        <p:nvCxnSpPr>
          <p:cNvPr id="71" name="直接连接符 70"/>
          <p:cNvCxnSpPr>
            <a:stCxn id="67" idx="0"/>
            <a:endCxn id="8" idx="2"/>
          </p:cNvCxnSpPr>
          <p:nvPr>
            <p:custDataLst>
              <p:tags r:id="rId15"/>
            </p:custDataLst>
          </p:nvPr>
        </p:nvCxnSpPr>
        <p:spPr>
          <a:xfrm flipV="1">
            <a:off x="2416175" y="4170680"/>
            <a:ext cx="0" cy="2882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68" idx="0"/>
            <a:endCxn id="14" idx="2"/>
          </p:cNvCxnSpPr>
          <p:nvPr>
            <p:custDataLst>
              <p:tags r:id="rId16"/>
            </p:custDataLst>
          </p:nvPr>
        </p:nvCxnSpPr>
        <p:spPr>
          <a:xfrm flipV="1">
            <a:off x="5899785" y="4170680"/>
            <a:ext cx="0" cy="2984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70" idx="0"/>
          </p:cNvCxnSpPr>
          <p:nvPr>
            <p:custDataLst>
              <p:tags r:id="rId17"/>
            </p:custDataLst>
          </p:nvPr>
        </p:nvCxnSpPr>
        <p:spPr>
          <a:xfrm flipV="1">
            <a:off x="9383395" y="4170680"/>
            <a:ext cx="0" cy="2730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  <p:bldP spid="10" grpId="1" animBg="1"/>
      <p:bldP spid="14" grpId="0" animBg="1"/>
      <p:bldP spid="14" grpId="1" animBg="1"/>
      <p:bldP spid="15" grpId="0" animBg="1"/>
      <p:bldP spid="15" grpId="1" animBg="1"/>
      <p:bldP spid="20" grpId="0" animBg="1"/>
      <p:bldP spid="20" grpId="1" animBg="1"/>
      <p:bldP spid="21" grpId="0" animBg="1"/>
      <p:bldP spid="21" grpId="1" animBg="1"/>
      <p:bldP spid="67" grpId="0" animBg="1"/>
      <p:bldP spid="67" grpId="1" animBg="1"/>
      <p:bldP spid="68" grpId="0" animBg="1"/>
      <p:bldP spid="68" grpId="1" animBg="1"/>
      <p:bldP spid="70" grpId="0" animBg="1"/>
      <p:bldP spid="7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6"/>
            <p:custDataLst>
              <p:tags r:id="rId1"/>
            </p:custDataLst>
          </p:nvPr>
        </p:nvSpPr>
        <p:spPr>
          <a:xfrm>
            <a:off x="3260090" y="2529840"/>
            <a:ext cx="5671820" cy="1951355"/>
          </a:xfrm>
        </p:spPr>
        <p:txBody>
          <a:bodyPr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/>
              <a:t>成长是自我觉醒</a:t>
            </a:r>
            <a:br>
              <a:rPr lang="zh-CN" altLang="en-US"/>
            </a:br>
            <a:r>
              <a:rPr lang="zh-CN" altLang="en-US"/>
              <a:t>而不是被迫接受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58260" y="1319530"/>
            <a:ext cx="4123055" cy="421894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4400">
                <a:sym typeface="+mn-ea"/>
              </a:rPr>
              <a:t>认识世界</a:t>
            </a:r>
            <a:endParaRPr lang="zh-CN" altLang="en-US" sz="4400">
              <a:sym typeface="+mn-ea"/>
            </a:endParaRPr>
          </a:p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4400">
                <a:sym typeface="+mn-ea"/>
              </a:rPr>
              <a:t>认识自我</a:t>
            </a:r>
            <a:endParaRPr lang="zh-CN" altLang="en-US" sz="4400">
              <a:sym typeface="+mn-ea"/>
            </a:endParaRPr>
          </a:p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4400">
                <a:sym typeface="+mn-ea"/>
              </a:rPr>
              <a:t>改变自我</a:t>
            </a:r>
            <a:endParaRPr lang="zh-CN" altLang="en-US" sz="4400">
              <a:sym typeface="+mn-ea"/>
            </a:endParaRPr>
          </a:p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4400">
                <a:sym typeface="+mn-ea"/>
              </a:rPr>
              <a:t>改变世界</a:t>
            </a:r>
            <a:endParaRPr lang="zh-CN" altLang="en-US" sz="4400">
              <a:sym typeface="+mn-ea"/>
            </a:endParaRPr>
          </a:p>
        </p:txBody>
      </p:sp>
      <p:sp>
        <p:nvSpPr>
          <p:cNvPr id="10" name="左大括号 9"/>
          <p:cNvSpPr/>
          <p:nvPr>
            <p:custDataLst>
              <p:tags r:id="rId1"/>
            </p:custDataLst>
          </p:nvPr>
        </p:nvSpPr>
        <p:spPr>
          <a:xfrm>
            <a:off x="3433445" y="1744345"/>
            <a:ext cx="314325" cy="1174750"/>
          </a:xfrm>
          <a:prstGeom prst="leftBrace">
            <a:avLst>
              <a:gd name="adj1" fmla="val 127795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2260600" y="2162810"/>
            <a:ext cx="106172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buClrTx/>
              <a:buSzTx/>
              <a:buFont typeface="Arial" panose="020B0604020202020204" pitchFamily="34" charset="0"/>
            </a:pPr>
            <a:r>
              <a:rPr lang="zh-CN" altLang="en-US" sz="2400">
                <a:sym typeface="+mn-ea"/>
              </a:rPr>
              <a:t>世界观</a:t>
            </a:r>
            <a:endParaRPr lang="zh-CN" altLang="en-US" sz="2400">
              <a:sym typeface="+mn-ea"/>
            </a:endParaRPr>
          </a:p>
        </p:txBody>
      </p:sp>
      <p:sp>
        <p:nvSpPr>
          <p:cNvPr id="14" name="左大括号 13"/>
          <p:cNvSpPr/>
          <p:nvPr>
            <p:custDataLst>
              <p:tags r:id="rId3"/>
            </p:custDataLst>
          </p:nvPr>
        </p:nvSpPr>
        <p:spPr>
          <a:xfrm>
            <a:off x="3433445" y="4020185"/>
            <a:ext cx="314325" cy="1174750"/>
          </a:xfrm>
          <a:prstGeom prst="leftBrace">
            <a:avLst>
              <a:gd name="adj1" fmla="val 127795"/>
              <a:gd name="adj2" fmla="val 5000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2260600" y="4438650"/>
            <a:ext cx="106172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buClrTx/>
              <a:buSzTx/>
              <a:buFont typeface="Arial" panose="020B0604020202020204" pitchFamily="34" charset="0"/>
            </a:pPr>
            <a:r>
              <a:rPr lang="zh-CN" altLang="en-US" sz="2400">
                <a:sym typeface="+mn-ea"/>
              </a:rPr>
              <a:t>方法论</a:t>
            </a:r>
            <a:endParaRPr lang="zh-CN" altLang="en-US" sz="240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0" grpId="1" animBg="1"/>
      <p:bldP spid="11" grpId="1"/>
      <p:bldP spid="14" grpId="0" animBg="1"/>
      <p:bldP spid="15" grpId="0"/>
      <p:bldP spid="14" grpId="1" animBg="1"/>
      <p:bldP spid="1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225800" y="2822575"/>
            <a:ext cx="5740400" cy="121285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6000">
                <a:sym typeface="+mn-ea"/>
              </a:rPr>
              <a:t>认</a:t>
            </a:r>
            <a:r>
              <a:rPr lang="en-US" altLang="zh-CN" sz="6000">
                <a:sym typeface="+mn-ea"/>
              </a:rPr>
              <a:t> </a:t>
            </a:r>
            <a:r>
              <a:rPr lang="zh-CN" sz="6000">
                <a:sym typeface="+mn-ea"/>
              </a:rPr>
              <a:t>识</a:t>
            </a:r>
            <a:r>
              <a:rPr lang="en-US" altLang="zh-CN" sz="6000">
                <a:sym typeface="+mn-ea"/>
              </a:rPr>
              <a:t> </a:t>
            </a:r>
            <a:r>
              <a:rPr lang="zh-CN" altLang="en-US" sz="6000">
                <a:sym typeface="+mn-ea"/>
              </a:rPr>
              <a:t>世</a:t>
            </a:r>
            <a:r>
              <a:rPr lang="en-US" altLang="zh-CN" sz="6000">
                <a:sym typeface="+mn-ea"/>
              </a:rPr>
              <a:t> </a:t>
            </a:r>
            <a:r>
              <a:rPr lang="zh-CN" altLang="en-US" sz="6000">
                <a:sym typeface="+mn-ea"/>
              </a:rPr>
              <a:t>界</a:t>
            </a:r>
            <a:endParaRPr lang="zh-CN" altLang="en-US" sz="6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一、视野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0182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开眼看世界：</a:t>
            </a:r>
            <a:r>
              <a:rPr lang="en-US" altLang="zh-CN" sz="2400">
                <a:sym typeface="+mn-ea"/>
              </a:rPr>
              <a:t>  </a:t>
            </a:r>
            <a:r>
              <a:rPr lang="zh-CN" altLang="en-US" sz="2400">
                <a:sym typeface="+mn-ea"/>
              </a:rPr>
              <a:t>广泛认识、广泛接触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79971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广泛涉猎：</a:t>
            </a:r>
            <a:r>
              <a:rPr lang="en-US" altLang="zh-CN" sz="2400">
                <a:sym typeface="+mn-ea"/>
              </a:rPr>
              <a:t> </a:t>
            </a:r>
            <a:r>
              <a:rPr lang="zh-CN" sz="2400">
                <a:sym typeface="+mn-ea"/>
              </a:rPr>
              <a:t>学科综合、冷门知识</a:t>
            </a:r>
            <a:endParaRPr lang="zh-CN" sz="24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09040" y="369760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接触密辛：</a:t>
            </a:r>
            <a:r>
              <a:rPr lang="en-US" altLang="zh-CN" sz="2400">
                <a:sym typeface="+mn-ea"/>
              </a:rPr>
              <a:t>  </a:t>
            </a:r>
            <a:r>
              <a:rPr lang="zh-CN" altLang="en-US" sz="2400">
                <a:sym typeface="+mn-ea"/>
              </a:rPr>
              <a:t>敏感话题、世界边界、人类苦难、宗教</a:t>
            </a:r>
            <a:endParaRPr lang="zh-CN" altLang="en-US" sz="2400">
              <a:sym typeface="+mn-ea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1209040" y="4595495"/>
            <a:ext cx="1424940" cy="1718310"/>
          </a:xfrm>
          <a:prstGeom prst="wedgeRoundRectCallout">
            <a:avLst>
              <a:gd name="adj1" fmla="val 142647"/>
              <a:gd name="adj2" fmla="val -79748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阶级、政治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原生家庭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性别矛盾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性教育</a:t>
            </a:r>
            <a:endParaRPr lang="zh-CN" altLang="en-US" b="1"/>
          </a:p>
        </p:txBody>
      </p:sp>
      <p:sp>
        <p:nvSpPr>
          <p:cNvPr id="16" name="圆角矩形标注 15"/>
          <p:cNvSpPr/>
          <p:nvPr/>
        </p:nvSpPr>
        <p:spPr>
          <a:xfrm>
            <a:off x="3324860" y="4893310"/>
            <a:ext cx="1310640" cy="1420495"/>
          </a:xfrm>
          <a:prstGeom prst="wedgeRoundRectCallout">
            <a:avLst>
              <a:gd name="adj1" fmla="val 121463"/>
              <a:gd name="adj2" fmla="val -115534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科学边界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宇宙边界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生命边界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文明边界</a:t>
            </a:r>
            <a:endParaRPr lang="zh-CN" altLang="en-US" b="1"/>
          </a:p>
        </p:txBody>
      </p:sp>
      <p:sp>
        <p:nvSpPr>
          <p:cNvPr id="17" name="圆角矩形标注 16"/>
          <p:cNvSpPr/>
          <p:nvPr/>
        </p:nvSpPr>
        <p:spPr>
          <a:xfrm>
            <a:off x="5326380" y="4893310"/>
            <a:ext cx="1555115" cy="1263015"/>
          </a:xfrm>
          <a:prstGeom prst="wedgeRoundRectCallout">
            <a:avLst>
              <a:gd name="adj1" fmla="val 60779"/>
              <a:gd name="adj2" fmla="val -112795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自然灾害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贫穷、疾病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饥饿、战争</a:t>
            </a:r>
            <a:endParaRPr lang="zh-CN" altLang="en-US" b="1"/>
          </a:p>
        </p:txBody>
      </p:sp>
      <p:sp>
        <p:nvSpPr>
          <p:cNvPr id="18" name="圆角矩形标注 17"/>
          <p:cNvSpPr/>
          <p:nvPr/>
        </p:nvSpPr>
        <p:spPr>
          <a:xfrm>
            <a:off x="7826375" y="4998085"/>
            <a:ext cx="2133600" cy="1157605"/>
          </a:xfrm>
          <a:prstGeom prst="wedgeRoundRectCallout">
            <a:avLst>
              <a:gd name="adj1" fmla="val -34940"/>
              <a:gd name="adj2" fmla="val -128003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基督教、佛教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伊斯兰教、道教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印度教、犹太教</a:t>
            </a:r>
            <a:endParaRPr lang="zh-CN" altLang="en-US" b="1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11" grpId="0" animBg="1"/>
      <p:bldP spid="11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一、视野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88745" y="188912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突破别人给你营造的信息温室</a:t>
            </a:r>
            <a:endParaRPr lang="zh-CN" sz="2400"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388745" y="276161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突破视野局限</a:t>
            </a:r>
            <a:endParaRPr lang="zh-CN" sz="2400"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388745" y="363410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突破信息屏障、信息差</a:t>
            </a:r>
            <a:endParaRPr lang="zh-CN" sz="2400"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88745" y="450659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突破信息茧房</a:t>
            </a:r>
            <a:endParaRPr lang="zh-CN" sz="2400">
              <a:sym typeface="+mn-ea"/>
            </a:endParaRPr>
          </a:p>
        </p:txBody>
      </p:sp>
      <p:sp>
        <p:nvSpPr>
          <p:cNvPr id="27" name="圆角矩形标注 26"/>
          <p:cNvSpPr/>
          <p:nvPr/>
        </p:nvSpPr>
        <p:spPr>
          <a:xfrm>
            <a:off x="6683375" y="1035050"/>
            <a:ext cx="2231390" cy="1614805"/>
          </a:xfrm>
          <a:prstGeom prst="wedgeRoundRectCallout">
            <a:avLst>
              <a:gd name="adj1" fmla="val -93597"/>
              <a:gd name="adj2" fmla="val 20310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中国局域网与全球万维网间的</a:t>
            </a:r>
            <a:r>
              <a:rPr lang="en-US" altLang="zh-CN" b="1"/>
              <a:t>“</a:t>
            </a:r>
            <a:r>
              <a:rPr lang="zh-CN" altLang="en-US" b="1"/>
              <a:t>墙</a:t>
            </a:r>
            <a:r>
              <a:rPr lang="en-US" altLang="zh-CN" b="1"/>
              <a:t>”</a:t>
            </a:r>
            <a:r>
              <a:rPr lang="zh-CN" altLang="en-US" b="1"/>
              <a:t>，是为了保护信息认识和辨别能力不强的人。</a:t>
            </a:r>
            <a:endParaRPr lang="en-US" altLang="zh-CN" b="1"/>
          </a:p>
        </p:txBody>
      </p:sp>
      <p:pic>
        <p:nvPicPr>
          <p:cNvPr id="28" name="图片 27"/>
          <p:cNvPicPr/>
          <p:nvPr/>
        </p:nvPicPr>
        <p:blipFill>
          <a:blip r:embed="rId1"/>
          <a:srcRect l="2928" r="-2928"/>
          <a:stretch>
            <a:fillRect/>
          </a:stretch>
        </p:blipFill>
        <p:spPr>
          <a:xfrm>
            <a:off x="9090025" y="961390"/>
            <a:ext cx="1800000" cy="1800000"/>
          </a:xfrm>
          <a:prstGeom prst="roundRect">
            <a:avLst/>
          </a:prstGeom>
        </p:spPr>
      </p:pic>
      <p:sp>
        <p:nvSpPr>
          <p:cNvPr id="29" name="圆角矩形标注 28"/>
          <p:cNvSpPr/>
          <p:nvPr/>
        </p:nvSpPr>
        <p:spPr>
          <a:xfrm>
            <a:off x="6858635" y="2826385"/>
            <a:ext cx="2231390" cy="807720"/>
          </a:xfrm>
          <a:prstGeom prst="wedgeRoundRectCallout">
            <a:avLst>
              <a:gd name="adj1" fmla="val -198947"/>
              <a:gd name="adj2" fmla="val -18789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摆脱个体的渺小，着眼世界的庞大。</a:t>
            </a:r>
            <a:endParaRPr lang="zh-CN" altLang="en-US" b="1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7" grpId="0" animBg="1"/>
      <p:bldP spid="27" grpId="1" animBg="1"/>
      <p:bldP spid="23" grpId="0"/>
      <p:bldP spid="23" grpId="1"/>
      <p:bldP spid="29" grpId="0" animBg="1"/>
      <p:bldP spid="29" grpId="1" animBg="1"/>
      <p:bldP spid="24" grpId="0"/>
      <p:bldP spid="24" grpId="1"/>
      <p:bldP spid="25" grpId="0"/>
      <p:bldP spid="2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一、视野</a:t>
            </a:r>
            <a:endParaRPr lang="zh-CN" altLang="en-US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25800" y="2748915"/>
            <a:ext cx="57404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4800">
                <a:sym typeface="+mn-ea"/>
              </a:rPr>
              <a:t>看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得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多</a:t>
            </a:r>
            <a:r>
              <a:rPr lang="en-US" altLang="zh-CN" sz="4800">
                <a:sym typeface="+mn-ea"/>
              </a:rPr>
              <a:t>    </a:t>
            </a:r>
            <a:r>
              <a:rPr lang="zh-CN" sz="4800">
                <a:sym typeface="+mn-ea"/>
              </a:rPr>
              <a:t>见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得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广</a:t>
            </a:r>
            <a:endParaRPr lang="zh-CN" sz="4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二、尝试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0182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打破舒适圈：避免感知麻木、能力退化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701290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打破常规：突破别人的定义和一般性思维</a:t>
            </a:r>
            <a:endParaRPr lang="zh-CN" sz="24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09040" y="350075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接触新事物</a:t>
            </a:r>
            <a:r>
              <a:rPr lang="en-US" altLang="zh-CN" sz="2400">
                <a:sym typeface="+mn-ea"/>
              </a:rPr>
              <a:t>(</a:t>
            </a:r>
            <a:r>
              <a:rPr lang="zh-CN" altLang="en-US" sz="2400">
                <a:sym typeface="+mn-ea"/>
              </a:rPr>
              <a:t>人</a:t>
            </a:r>
            <a:r>
              <a:rPr lang="en-US" altLang="zh-CN" sz="2400">
                <a:sym typeface="+mn-ea"/>
              </a:rPr>
              <a:t>)</a:t>
            </a:r>
            <a:r>
              <a:rPr lang="zh-CN" sz="2400">
                <a:sym typeface="+mn-ea"/>
              </a:rPr>
              <a:t>：突破周围人和事物的局限</a:t>
            </a:r>
            <a:endParaRPr lang="zh-CN" sz="2400">
              <a:sym typeface="+mn-ea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8303895" y="1835785"/>
            <a:ext cx="2512060" cy="865505"/>
          </a:xfrm>
          <a:prstGeom prst="wedgeRoundRectCallout">
            <a:avLst>
              <a:gd name="adj1" fmla="val -93503"/>
              <a:gd name="adj2" fmla="val 79126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这个世界没有准则，一切都在摸索中前进。</a:t>
            </a:r>
            <a:endParaRPr lang="zh-CN" altLang="en-US" b="1"/>
          </a:p>
        </p:txBody>
      </p:sp>
      <p:sp>
        <p:nvSpPr>
          <p:cNvPr id="3" name="矩形 2"/>
          <p:cNvSpPr/>
          <p:nvPr/>
        </p:nvSpPr>
        <p:spPr>
          <a:xfrm>
            <a:off x="1209040" y="4300220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学习新方法：学习更有用、更高效的方法</a:t>
            </a:r>
            <a:endParaRPr lang="zh-CN" sz="2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11" grpId="0" animBg="1"/>
      <p:bldP spid="11" grpId="1" animBg="1"/>
      <p:bldP spid="7" grpId="0"/>
      <p:bldP spid="7" grpId="1"/>
      <p:bldP spid="3" grpId="0"/>
      <p:bldP spid="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二、尝试</a:t>
            </a:r>
            <a:endParaRPr lang="zh-CN" altLang="en-US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0900" y="2748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4800">
                <a:sym typeface="+mn-ea"/>
              </a:rPr>
              <a:t>敢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于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尝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试</a:t>
            </a:r>
            <a:r>
              <a:rPr lang="en-US" altLang="zh-CN" sz="4800">
                <a:sym typeface="+mn-ea"/>
              </a:rPr>
              <a:t>   </a:t>
            </a:r>
            <a:r>
              <a:rPr lang="zh-CN" altLang="en-US" sz="4800">
                <a:sym typeface="+mn-ea"/>
              </a:rPr>
              <a:t>打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破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常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规</a:t>
            </a:r>
            <a:endParaRPr lang="zh-CN" altLang="en-US" sz="4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三、经历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0182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深度参与：没有了解过、参与过就没有发言权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93941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多元人生：获取丰富多样的人生感知</a:t>
            </a:r>
            <a:endParaRPr lang="zh-CN" sz="24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09040" y="397700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避免主观臆测局限</a:t>
            </a:r>
            <a:endParaRPr lang="zh-CN" altLang="en-US" sz="2400">
              <a:sym typeface="+mn-ea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7952740" y="2084705"/>
            <a:ext cx="3458210" cy="2185670"/>
          </a:xfrm>
          <a:prstGeom prst="wedgeRoundRectCallout">
            <a:avLst>
              <a:gd name="adj1" fmla="val -90965"/>
              <a:gd name="adj2" fmla="val -290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en-US" altLang="zh-CN" b="1"/>
              <a:t>· </a:t>
            </a:r>
            <a:r>
              <a:rPr lang="zh-CN" altLang="en-US" b="1"/>
              <a:t>流浪行者：大冰踏足各地，书中满是旅途见闻。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en-US" altLang="zh-CN" b="1"/>
              <a:t>· </a:t>
            </a:r>
            <a:r>
              <a:rPr lang="zh-CN" altLang="en-US" b="1"/>
              <a:t>酒吧掌柜：于丽江经营酒吧，故事融入作品之中。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en-US" altLang="zh-CN" b="1"/>
              <a:t>· </a:t>
            </a:r>
            <a:r>
              <a:rPr lang="zh-CN" altLang="en-US" b="1"/>
              <a:t>跨界文人：从主持跨界写作，感悟凝于文字里</a:t>
            </a:r>
            <a:r>
              <a:rPr lang="en-US" altLang="zh-CN" b="1"/>
              <a:t> </a:t>
            </a:r>
            <a:r>
              <a:rPr lang="zh-CN" altLang="en-US" b="1"/>
              <a:t>。</a:t>
            </a:r>
            <a:endParaRPr lang="zh-CN" altLang="en-US" b="1"/>
          </a:p>
        </p:txBody>
      </p:sp>
      <p:sp>
        <p:nvSpPr>
          <p:cNvPr id="10" name="圆角矩形标注 9"/>
          <p:cNvSpPr/>
          <p:nvPr/>
        </p:nvSpPr>
        <p:spPr>
          <a:xfrm>
            <a:off x="2898775" y="5014595"/>
            <a:ext cx="1804670" cy="865505"/>
          </a:xfrm>
          <a:prstGeom prst="wedgeRoundRectCallout">
            <a:avLst>
              <a:gd name="adj1" fmla="val -59465"/>
              <a:gd name="adj2" fmla="val -119479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en-US" altLang="zh-CN" b="1"/>
              <a:t>“</a:t>
            </a:r>
            <a:r>
              <a:rPr lang="zh-CN" altLang="en-US" b="1"/>
              <a:t>思想家</a:t>
            </a:r>
            <a:r>
              <a:rPr lang="en-US" altLang="zh-CN" b="1"/>
              <a:t>”</a:t>
            </a:r>
            <a:r>
              <a:rPr lang="zh-CN" altLang="en-US" b="1"/>
              <a:t>局限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en-US" altLang="zh-CN" b="1"/>
              <a:t>“</a:t>
            </a:r>
            <a:r>
              <a:rPr lang="zh-CN" altLang="en-US" b="1"/>
              <a:t>政治家</a:t>
            </a:r>
            <a:r>
              <a:rPr lang="en-US" altLang="zh-CN" b="1"/>
              <a:t>”</a:t>
            </a:r>
            <a:r>
              <a:rPr lang="zh-CN" altLang="en-US" b="1"/>
              <a:t>局限</a:t>
            </a:r>
            <a:endParaRPr lang="zh-CN" altLang="en-US" b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l="25134" t="22508" r="51275" b="16221"/>
          <a:stretch>
            <a:fillRect/>
          </a:stretch>
        </p:blipFill>
        <p:spPr>
          <a:xfrm>
            <a:off x="4885055" y="3415030"/>
            <a:ext cx="2455545" cy="3403600"/>
          </a:xfrm>
          <a:prstGeom prst="round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11" grpId="0" animBg="1"/>
      <p:bldP spid="11" grpId="1" animBg="1"/>
      <p:bldP spid="7" grpId="0"/>
      <p:bldP spid="7" grpId="1"/>
      <p:bldP spid="10" grpId="0" animBg="1"/>
      <p:bldP spid="1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三、经历</a:t>
            </a:r>
            <a:endParaRPr lang="zh-CN" altLang="en-US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0900" y="2748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4800">
                <a:sym typeface="+mn-ea"/>
              </a:rPr>
              <a:t>多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经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历</a:t>
            </a:r>
            <a:r>
              <a:rPr lang="en-US" altLang="zh-CN" sz="4800">
                <a:sym typeface="+mn-ea"/>
              </a:rPr>
              <a:t>    </a:t>
            </a:r>
            <a:r>
              <a:rPr lang="zh-CN" altLang="en-US" sz="4800">
                <a:sym typeface="+mn-ea"/>
              </a:rPr>
              <a:t>多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感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受</a:t>
            </a:r>
            <a:endParaRPr lang="zh-CN" altLang="en-US" sz="4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四、思考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0182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批判性继承别人的观点：获取认同感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93941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不盲目从众</a:t>
            </a:r>
            <a:endParaRPr lang="zh-CN" sz="24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09040" y="397700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全面深刻地思考</a:t>
            </a:r>
            <a:endParaRPr lang="zh-CN" altLang="en-US" sz="2400">
              <a:sym typeface="+mn-ea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7180580" y="1874520"/>
            <a:ext cx="1891030" cy="502920"/>
          </a:xfrm>
          <a:prstGeom prst="wedgeRoundRectCallout">
            <a:avLst>
              <a:gd name="adj1" fmla="val -90965"/>
              <a:gd name="adj2" fmla="val -290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b="1"/>
              <a:t>避免喝到毒鸡汤</a:t>
            </a:r>
            <a:endParaRPr lang="zh-CN" b="1"/>
          </a:p>
        </p:txBody>
      </p:sp>
      <p:sp>
        <p:nvSpPr>
          <p:cNvPr id="3" name="圆角矩形标注 2"/>
          <p:cNvSpPr/>
          <p:nvPr/>
        </p:nvSpPr>
        <p:spPr>
          <a:xfrm>
            <a:off x="4789805" y="2543175"/>
            <a:ext cx="7199630" cy="4001135"/>
          </a:xfrm>
          <a:prstGeom prst="wedgeRoundRectCallout">
            <a:avLst>
              <a:gd name="adj1" fmla="val -71044"/>
              <a:gd name="adj2" fmla="val -33669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en-US" altLang="zh-CN" b="1"/>
              <a:t>· </a:t>
            </a:r>
            <a:r>
              <a:rPr lang="zh-CN" altLang="en-US" b="1"/>
              <a:t>石金泉事件</a:t>
            </a:r>
            <a:r>
              <a:rPr lang="en-US" altLang="zh-CN" b="1"/>
              <a:t> </a:t>
            </a:r>
            <a:r>
              <a:rPr lang="zh-CN" altLang="en-US" b="1"/>
              <a:t>：</a:t>
            </a:r>
            <a:r>
              <a:rPr lang="en-US" altLang="zh-CN" b="1"/>
              <a:t>2011 </a:t>
            </a:r>
            <a:r>
              <a:rPr lang="zh-CN" altLang="en-US" b="1"/>
              <a:t>年石金泉策划的广州女子跪行求助事件。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en-US" altLang="zh-CN" b="1"/>
              <a:t>· </a:t>
            </a:r>
            <a:r>
              <a:rPr lang="zh-CN" altLang="en-US" b="1"/>
              <a:t>事件背景：谢三秀女儿患眼癌，花光积蓄且求助无门，在天涯网发帖求助。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en-US" altLang="zh-CN" b="1"/>
              <a:t>· </a:t>
            </a:r>
            <a:r>
              <a:rPr lang="zh-CN" altLang="en-US" b="1"/>
              <a:t>事件经过：石金泉以</a:t>
            </a:r>
            <a:r>
              <a:rPr lang="en-US" altLang="zh-CN" b="1"/>
              <a:t> “</a:t>
            </a:r>
            <a:r>
              <a:rPr lang="zh-CN" altLang="en-US" b="1"/>
              <a:t>金泉少侠</a:t>
            </a:r>
            <a:r>
              <a:rPr lang="en-US" altLang="zh-CN" b="1"/>
              <a:t>”“</a:t>
            </a:r>
            <a:r>
              <a:rPr lang="zh-CN" altLang="en-US" b="1"/>
              <a:t>广州的富家公子</a:t>
            </a:r>
            <a:r>
              <a:rPr lang="en-US" altLang="zh-CN" b="1"/>
              <a:t>” </a:t>
            </a:r>
            <a:r>
              <a:rPr lang="zh-CN" altLang="en-US" b="1"/>
              <a:t>两个网名策划炒作，让谢三秀包装自己，通过</a:t>
            </a:r>
            <a:r>
              <a:rPr lang="en-US" altLang="zh-CN" b="1"/>
              <a:t> “</a:t>
            </a:r>
            <a:r>
              <a:rPr lang="zh-CN" altLang="en-US" b="1"/>
              <a:t>富家公子</a:t>
            </a:r>
            <a:r>
              <a:rPr lang="en-US" altLang="zh-CN" b="1"/>
              <a:t>” </a:t>
            </a:r>
            <a:r>
              <a:rPr lang="zh-CN" altLang="en-US" b="1"/>
              <a:t>提出让她跪行</a:t>
            </a:r>
            <a:r>
              <a:rPr lang="en-US" altLang="zh-CN" b="1"/>
              <a:t> 1000 </a:t>
            </a:r>
            <a:r>
              <a:rPr lang="zh-CN" altLang="en-US" b="1"/>
              <a:t>米就捐款的要求来引发公愤。</a:t>
            </a:r>
            <a:r>
              <a:rPr lang="en-US" altLang="zh-CN" b="1"/>
              <a:t>2011 </a:t>
            </a:r>
            <a:r>
              <a:rPr lang="zh-CN" altLang="en-US" b="1"/>
              <a:t>年</a:t>
            </a:r>
            <a:r>
              <a:rPr lang="en-US" altLang="zh-CN" b="1"/>
              <a:t> 3 </a:t>
            </a:r>
            <a:r>
              <a:rPr lang="zh-CN" altLang="en-US" b="1"/>
              <a:t>月</a:t>
            </a:r>
            <a:r>
              <a:rPr lang="en-US" altLang="zh-CN" b="1"/>
              <a:t> 22 </a:t>
            </a:r>
            <a:r>
              <a:rPr lang="zh-CN" altLang="en-US" b="1"/>
              <a:t>日，谢三秀抱着女儿从广州大道中跪爬至体育中心，</a:t>
            </a:r>
            <a:r>
              <a:rPr lang="en-US" altLang="zh-CN" b="1"/>
              <a:t>“</a:t>
            </a:r>
            <a:r>
              <a:rPr lang="zh-CN" altLang="en-US" b="1"/>
              <a:t>富家公子</a:t>
            </a:r>
            <a:r>
              <a:rPr lang="en-US" altLang="zh-CN" b="1"/>
              <a:t>” </a:t>
            </a:r>
            <a:r>
              <a:rPr lang="zh-CN" altLang="en-US" b="1"/>
              <a:t>失约，引发公众对其谴责。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en-US" altLang="zh-CN" b="1"/>
              <a:t>· </a:t>
            </a:r>
            <a:r>
              <a:rPr lang="zh-CN" altLang="en-US" b="1"/>
              <a:t>事件结果：</a:t>
            </a:r>
            <a:r>
              <a:rPr lang="en-US" altLang="zh-CN" b="1"/>
              <a:t>3 </a:t>
            </a:r>
            <a:r>
              <a:rPr lang="zh-CN" altLang="en-US" b="1"/>
              <a:t>月</a:t>
            </a:r>
            <a:r>
              <a:rPr lang="en-US" altLang="zh-CN" b="1"/>
              <a:t> 23 </a:t>
            </a:r>
            <a:r>
              <a:rPr lang="zh-CN" altLang="en-US" b="1"/>
              <a:t>日石金泉身份被曝光并承认策划一事，</a:t>
            </a:r>
            <a:r>
              <a:rPr lang="en-US" altLang="zh-CN" b="1"/>
              <a:t>3 </a:t>
            </a:r>
            <a:r>
              <a:rPr lang="zh-CN" altLang="en-US" b="1"/>
              <a:t>月</a:t>
            </a:r>
            <a:r>
              <a:rPr lang="en-US" altLang="zh-CN" b="1"/>
              <a:t> 26 </a:t>
            </a:r>
            <a:r>
              <a:rPr lang="zh-CN" altLang="en-US" b="1"/>
              <a:t>日他向谢三秀鞠躬道歉。谢三秀收到</a:t>
            </a:r>
            <a:r>
              <a:rPr lang="en-US" altLang="zh-CN" b="1"/>
              <a:t> 28 </a:t>
            </a:r>
            <a:r>
              <a:rPr lang="zh-CN" altLang="en-US" b="1"/>
              <a:t>万多元捐款，承诺未用完的会以女儿名义捐给其他宝宝。</a:t>
            </a:r>
            <a:endParaRPr lang="zh-CN" altLang="en-US" b="1"/>
          </a:p>
        </p:txBody>
      </p:sp>
      <p:sp>
        <p:nvSpPr>
          <p:cNvPr id="8" name="爆炸形 1 7"/>
          <p:cNvSpPr/>
          <p:nvPr/>
        </p:nvSpPr>
        <p:spPr>
          <a:xfrm>
            <a:off x="9188450" y="743585"/>
            <a:ext cx="3247390" cy="1924050"/>
          </a:xfrm>
          <a:prstGeom prst="irregularSeal1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ym typeface="+mn-ea"/>
              </a:rPr>
              <a:t>谋</a:t>
            </a:r>
            <a:r>
              <a:rPr lang="zh-CN" altLang="en-US" sz="2000" b="1">
                <a:sym typeface="+mn-ea"/>
              </a:rPr>
              <a:t>士以身入局，</a:t>
            </a:r>
            <a:endParaRPr lang="zh-CN" altLang="en-US" sz="2000" b="1">
              <a:sym typeface="+mn-ea"/>
            </a:endParaRP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2000" b="1">
                <a:sym typeface="+mn-ea"/>
              </a:rPr>
              <a:t>举棋胜天半子。</a:t>
            </a:r>
            <a:endParaRPr lang="zh-CN" altLang="en-US" sz="20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1" grpId="0" animBg="1"/>
      <p:bldP spid="11" grpId="1" animBg="1"/>
      <p:bldP spid="6" grpId="0"/>
      <p:bldP spid="6" grpId="1"/>
      <p:bldP spid="3" grpId="0" animBg="1"/>
      <p:bldP spid="3" grpId="1" animBg="1"/>
      <p:bldP spid="8" grpId="0" animBg="1"/>
      <p:bldP spid="8" grpId="1" animBg="1"/>
      <p:bldP spid="7" grpId="0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四、思考</a:t>
            </a:r>
            <a:endParaRPr lang="zh-CN" altLang="en-US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0900" y="2748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4800">
                <a:sym typeface="+mn-ea"/>
              </a:rPr>
              <a:t>自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主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思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考</a:t>
            </a:r>
            <a:r>
              <a:rPr lang="en-US" altLang="zh-CN" sz="4800">
                <a:sym typeface="+mn-ea"/>
              </a:rPr>
              <a:t>    </a:t>
            </a:r>
            <a:r>
              <a:rPr lang="zh-CN" altLang="en-US" sz="4800">
                <a:sym typeface="+mn-ea"/>
              </a:rPr>
              <a:t>个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性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认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识</a:t>
            </a:r>
            <a:endParaRPr lang="zh-CN" altLang="en-US" sz="4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五、乐观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0182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向上向善：一切事物发展的必然趋势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93941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负重前行</a:t>
            </a:r>
            <a:endParaRPr lang="zh-CN" sz="24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09040" y="397700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死生为大</a:t>
            </a:r>
            <a:endParaRPr lang="zh-CN" sz="2400">
              <a:sym typeface="+mn-ea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7199630" y="1901825"/>
            <a:ext cx="3458210" cy="1168400"/>
          </a:xfrm>
          <a:prstGeom prst="wedgeRoundRectCallout">
            <a:avLst>
              <a:gd name="adj1" fmla="val -179250"/>
              <a:gd name="adj2" fmla="val 57228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一个人成熟的标志是，认清世界的本质后依然选择拥抱世界，积极地继续生活下去。</a:t>
            </a:r>
            <a:endParaRPr lang="zh-CN" altLang="en-US" b="1"/>
          </a:p>
        </p:txBody>
      </p:sp>
      <p:sp>
        <p:nvSpPr>
          <p:cNvPr id="8" name="圆角矩形标注 7"/>
          <p:cNvSpPr/>
          <p:nvPr/>
        </p:nvSpPr>
        <p:spPr>
          <a:xfrm>
            <a:off x="7199630" y="3223895"/>
            <a:ext cx="3458210" cy="957580"/>
          </a:xfrm>
          <a:prstGeom prst="wedgeRoundRectCallout">
            <a:avLst>
              <a:gd name="adj1" fmla="val -178699"/>
              <a:gd name="adj2" fmla="val -50397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勇敢的人，不是不落泪的人，而是愿意含着泪继续奔跑的人。</a:t>
            </a:r>
            <a:endParaRPr lang="zh-CN" altLang="en-US" b="1"/>
          </a:p>
        </p:txBody>
      </p:sp>
      <p:sp>
        <p:nvSpPr>
          <p:cNvPr id="10" name="圆角矩形标注 9"/>
          <p:cNvSpPr/>
          <p:nvPr/>
        </p:nvSpPr>
        <p:spPr>
          <a:xfrm>
            <a:off x="3112135" y="5014595"/>
            <a:ext cx="2254250" cy="957580"/>
          </a:xfrm>
          <a:prstGeom prst="wedgeRoundRectCallout">
            <a:avLst>
              <a:gd name="adj1" fmla="val -61211"/>
              <a:gd name="adj2" fmla="val -124602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固知一死生为虚诞，齐彭殇为妄作。</a:t>
            </a:r>
            <a:endParaRPr lang="en-US" altLang="zh-CN" b="1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4" grpId="0" animBg="1"/>
      <p:bldP spid="4" grpId="1" animBg="1"/>
      <p:bldP spid="8" grpId="0" animBg="1"/>
      <p:bldP spid="8" grpId="1" animBg="1"/>
      <p:bldP spid="10" grpId="0" animBg="1"/>
      <p:bldP spid="1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五、乐观</a:t>
            </a:r>
            <a:endParaRPr lang="zh-CN" altLang="en-US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0900" y="2748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4800">
                <a:sym typeface="+mn-ea"/>
              </a:rPr>
              <a:t>向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上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向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善</a:t>
            </a:r>
            <a:endParaRPr lang="zh-CN" sz="4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225800" y="2822575"/>
            <a:ext cx="5740400" cy="121285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6000">
                <a:sym typeface="+mn-ea"/>
              </a:rPr>
              <a:t>认</a:t>
            </a:r>
            <a:r>
              <a:rPr lang="en-US" altLang="zh-CN" sz="6000">
                <a:sym typeface="+mn-ea"/>
              </a:rPr>
              <a:t> </a:t>
            </a:r>
            <a:r>
              <a:rPr lang="zh-CN" sz="6000">
                <a:sym typeface="+mn-ea"/>
              </a:rPr>
              <a:t>识</a:t>
            </a:r>
            <a:r>
              <a:rPr lang="en-US" altLang="zh-CN" sz="6000">
                <a:sym typeface="+mn-ea"/>
              </a:rPr>
              <a:t> </a:t>
            </a:r>
            <a:r>
              <a:rPr lang="zh-CN" altLang="en-US" sz="6000">
                <a:sym typeface="+mn-ea"/>
              </a:rPr>
              <a:t>自</a:t>
            </a:r>
            <a:r>
              <a:rPr lang="en-US" altLang="zh-CN" sz="6000">
                <a:sym typeface="+mn-ea"/>
              </a:rPr>
              <a:t> </a:t>
            </a:r>
            <a:r>
              <a:rPr lang="zh-CN" altLang="en-US" sz="6000">
                <a:sym typeface="+mn-ea"/>
              </a:rPr>
              <a:t>我</a:t>
            </a:r>
            <a:endParaRPr lang="zh-CN" altLang="en-US" sz="6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一、自我意识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0182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优点缺点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58889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能力潜力</a:t>
            </a:r>
            <a:endParaRPr lang="zh-CN" sz="24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09040" y="396303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性格特征</a:t>
            </a:r>
            <a:endParaRPr lang="zh-CN" sz="24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09040" y="465010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行为规律</a:t>
            </a:r>
            <a:endParaRPr lang="zh-CN" sz="240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9040" y="327596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兴趣爱好</a:t>
            </a:r>
            <a:endParaRPr lang="zh-CN" sz="2400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09040" y="533717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医疗状况</a:t>
            </a:r>
            <a:endParaRPr lang="zh-CN" sz="2400"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175" y="1504950"/>
            <a:ext cx="5960745" cy="43237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4" grpId="0"/>
      <p:bldP spid="4" grpId="1"/>
      <p:bldP spid="7" grpId="0"/>
      <p:bldP spid="7" grpId="1"/>
      <p:bldP spid="3" grpId="0"/>
      <p:bldP spid="3" grpId="1"/>
      <p:bldP spid="8" grpId="0"/>
      <p:bldP spid="8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一、自我意识</a:t>
            </a:r>
            <a:endParaRPr lang="zh-CN" altLang="en-US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0900" y="2748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4800">
                <a:sym typeface="+mn-ea"/>
              </a:rPr>
              <a:t>全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面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充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分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地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认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识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自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我</a:t>
            </a:r>
            <a:endParaRPr lang="en-US" altLang="zh-CN" sz="4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二、认识欲望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0182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人之常情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74764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拒绝偏见</a:t>
            </a:r>
            <a:endParaRPr lang="zh-CN" sz="24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09040" y="443928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控制欲望</a:t>
            </a:r>
            <a:endParaRPr lang="zh-CN" sz="240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9040" y="359346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合理欲望</a:t>
            </a:r>
            <a:endParaRPr lang="zh-CN" sz="2400">
              <a:sym typeface="+mn-ea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6565265" y="2012315"/>
            <a:ext cx="5626735" cy="1210945"/>
          </a:xfrm>
          <a:prstGeom prst="wedgeRoundRectCallout">
            <a:avLst>
              <a:gd name="adj1" fmla="val -59716"/>
              <a:gd name="adj2" fmla="val 970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人类对未知的探索欲，让人类走出从林，走向宇宙。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人类对现状的不满足，促进个人和社会的发展进步。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人类对生</a:t>
            </a:r>
            <a:r>
              <a:rPr lang="en-US" altLang="zh-CN" b="1"/>
              <a:t>(</a:t>
            </a:r>
            <a:r>
              <a:rPr lang="zh-CN" altLang="en-US" b="1"/>
              <a:t>活着</a:t>
            </a:r>
            <a:r>
              <a:rPr lang="en-US" altLang="zh-CN" b="1"/>
              <a:t>)</a:t>
            </a:r>
            <a:r>
              <a:rPr lang="zh-CN" altLang="en-US" b="1"/>
              <a:t>的渴望，帮助人类突破困境。</a:t>
            </a:r>
            <a:endParaRPr lang="zh-CN" altLang="en-US" b="1"/>
          </a:p>
        </p:txBody>
      </p:sp>
      <p:sp>
        <p:nvSpPr>
          <p:cNvPr id="3" name="圆角矩形标注 2"/>
          <p:cNvSpPr/>
          <p:nvPr/>
        </p:nvSpPr>
        <p:spPr>
          <a:xfrm>
            <a:off x="3851275" y="1833880"/>
            <a:ext cx="2595880" cy="1303020"/>
          </a:xfrm>
          <a:prstGeom prst="wedgeRoundRectCallout">
            <a:avLst>
              <a:gd name="adj1" fmla="val -83977"/>
              <a:gd name="adj2" fmla="val 32699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当我还有欲望的时候，我至少是个人；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当我失去欲望的时候，我至多是具躯体。</a:t>
            </a:r>
            <a:endParaRPr lang="en-US" altLang="zh-CN" b="1"/>
          </a:p>
        </p:txBody>
      </p:sp>
      <p:sp>
        <p:nvSpPr>
          <p:cNvPr id="10" name="圆角矩形标注 9"/>
          <p:cNvSpPr/>
          <p:nvPr/>
        </p:nvSpPr>
        <p:spPr>
          <a:xfrm>
            <a:off x="3324860" y="4647565"/>
            <a:ext cx="3122930" cy="478790"/>
          </a:xfrm>
          <a:prstGeom prst="wedgeRoundRectCallout">
            <a:avLst>
              <a:gd name="adj1" fmla="val -64071"/>
              <a:gd name="adj2" fmla="val -28779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奴隶欲望，而非被欲望奴隶。</a:t>
            </a:r>
            <a:endParaRPr lang="en-US" altLang="zh-CN" b="1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3" grpId="0" animBg="1"/>
      <p:bldP spid="3" grpId="1" animBg="1"/>
      <p:bldP spid="8" grpId="0" animBg="1"/>
      <p:bldP spid="8" grpId="1" animBg="1"/>
      <p:bldP spid="4" grpId="0"/>
      <p:bldP spid="4" grpId="1"/>
      <p:bldP spid="7" grpId="0"/>
      <p:bldP spid="7" grpId="1"/>
      <p:bldP spid="10" grpId="0" animBg="1"/>
      <p:bldP spid="10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二、认识欲望</a:t>
            </a:r>
            <a:endParaRPr lang="zh-CN" altLang="en-US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0900" y="2748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endParaRPr lang="zh-CN" sz="4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47900" y="2875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4800">
                <a:sym typeface="+mn-ea"/>
              </a:rPr>
              <a:t>正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确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认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识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欲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望</a:t>
            </a:r>
            <a:endParaRPr lang="zh-CN" sz="4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三、自信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0182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自我信任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747645"/>
            <a:ext cx="6932930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勇气</a:t>
            </a:r>
            <a:endParaRPr lang="zh-CN" sz="24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09040" y="443928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精神信仰</a:t>
            </a:r>
            <a:endParaRPr lang="zh-CN" sz="240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9040" y="3593465"/>
            <a:ext cx="8458835" cy="47561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崇高理想</a:t>
            </a:r>
            <a:endParaRPr lang="zh-CN" sz="2400">
              <a:sym typeface="+mn-ea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3696970" y="1661795"/>
            <a:ext cx="2176145" cy="478790"/>
          </a:xfrm>
          <a:prstGeom prst="wedgeRoundRectCallout">
            <a:avLst>
              <a:gd name="adj1" fmla="val -87379"/>
              <a:gd name="adj2" fmla="val 52387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自信是一切之基础。</a:t>
            </a:r>
            <a:endParaRPr lang="en-US" altLang="zh-CN" b="1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lum contrast="18000"/>
          </a:blip>
          <a:srcRect l="7666" r="12336"/>
          <a:stretch>
            <a:fillRect/>
          </a:stretch>
        </p:blipFill>
        <p:spPr>
          <a:xfrm>
            <a:off x="6991985" y="1766570"/>
            <a:ext cx="3928745" cy="3148330"/>
          </a:xfrm>
          <a:prstGeom prst="round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0" grpId="0" animBg="1"/>
      <p:bldP spid="10" grpId="1" animBg="1"/>
      <p:bldP spid="6" grpId="0"/>
      <p:bldP spid="6" grpId="1"/>
      <p:bldP spid="4" grpId="0"/>
      <p:bldP spid="4" grpId="1"/>
      <p:bldP spid="7" grpId="0"/>
      <p:bldP spid="7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认识自我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三、自信</a:t>
            </a:r>
            <a:endParaRPr lang="zh-CN" altLang="en-US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0900" y="2748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endParaRPr lang="zh-CN" sz="4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47900" y="2875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4800">
                <a:sym typeface="+mn-ea"/>
              </a:rPr>
              <a:t>精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神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自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给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自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足</a:t>
            </a:r>
            <a:endParaRPr lang="zh-CN" sz="4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225800" y="2822575"/>
            <a:ext cx="5740400" cy="121285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6000">
                <a:sym typeface="+mn-ea"/>
              </a:rPr>
              <a:t>改</a:t>
            </a:r>
            <a:r>
              <a:rPr lang="en-US" altLang="zh-CN" sz="6000">
                <a:sym typeface="+mn-ea"/>
              </a:rPr>
              <a:t> </a:t>
            </a:r>
            <a:r>
              <a:rPr lang="zh-CN" altLang="en-US" sz="6000">
                <a:sym typeface="+mn-ea"/>
              </a:rPr>
              <a:t>变</a:t>
            </a:r>
            <a:r>
              <a:rPr lang="en-US" altLang="zh-CN" sz="6000">
                <a:sym typeface="+mn-ea"/>
              </a:rPr>
              <a:t> </a:t>
            </a:r>
            <a:r>
              <a:rPr lang="zh-CN" altLang="en-US" sz="6000">
                <a:sym typeface="+mn-ea"/>
              </a:rPr>
              <a:t>自</a:t>
            </a:r>
            <a:r>
              <a:rPr lang="en-US" altLang="zh-CN" sz="6000">
                <a:sym typeface="+mn-ea"/>
              </a:rPr>
              <a:t> </a:t>
            </a:r>
            <a:r>
              <a:rPr lang="zh-CN" altLang="en-US" sz="6000">
                <a:sym typeface="+mn-ea"/>
              </a:rPr>
              <a:t>我</a:t>
            </a:r>
            <a:endParaRPr lang="zh-CN" altLang="en-US" sz="6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改变自我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一、中正和合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18335"/>
            <a:ext cx="503682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避免极端：物极必反，乐极生悲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668905"/>
            <a:ext cx="503682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力求稳重</a:t>
            </a:r>
            <a:endParaRPr lang="zh-CN" sz="24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09040" y="4170045"/>
            <a:ext cx="614553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温和谦逊：冲动是魔鬼</a:t>
            </a:r>
            <a:endParaRPr lang="zh-CN" sz="240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9040" y="3419475"/>
            <a:ext cx="614553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中立主和：不随意做出褒贬评价</a:t>
            </a:r>
            <a:endParaRPr lang="zh-CN" sz="2400">
              <a:sym typeface="+mn-ea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3739515" y="5671185"/>
            <a:ext cx="2176145" cy="768985"/>
          </a:xfrm>
          <a:prstGeom prst="wedgeRoundRectCallout">
            <a:avLst>
              <a:gd name="adj1" fmla="val -90414"/>
              <a:gd name="adj2" fmla="val -13996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世界永远存在未知，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要对未知心存敬畏。</a:t>
            </a:r>
            <a:endParaRPr lang="zh-CN" altLang="en-US" b="1"/>
          </a:p>
        </p:txBody>
      </p:sp>
      <p:sp>
        <p:nvSpPr>
          <p:cNvPr id="3" name="矩形 2"/>
          <p:cNvSpPr/>
          <p:nvPr/>
        </p:nvSpPr>
        <p:spPr>
          <a:xfrm>
            <a:off x="1209040" y="5671185"/>
            <a:ext cx="614553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敬畏世界</a:t>
            </a:r>
            <a:endParaRPr lang="zh-CN" sz="2400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09040" y="4920615"/>
            <a:ext cx="614553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尊重他人：不理解但尊重</a:t>
            </a:r>
            <a:endParaRPr lang="zh-CN" sz="2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4" grpId="0"/>
      <p:bldP spid="4" grpId="1"/>
      <p:bldP spid="7" grpId="0"/>
      <p:bldP spid="7" grpId="1"/>
      <p:bldP spid="8" grpId="0"/>
      <p:bldP spid="8" grpId="1"/>
      <p:bldP spid="3" grpId="0"/>
      <p:bldP spid="3" grpId="1"/>
      <p:bldP spid="10" grpId="0" animBg="1"/>
      <p:bldP spid="10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改变自我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一、中正和合</a:t>
            </a:r>
            <a:endParaRPr lang="zh-CN" altLang="en-US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0900" y="2748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endParaRPr lang="zh-CN" sz="4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47900" y="2875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4800">
                <a:sym typeface="+mn-ea"/>
              </a:rPr>
              <a:t>中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立</a:t>
            </a:r>
            <a:r>
              <a:rPr lang="en-US" altLang="zh-CN" sz="4800">
                <a:sym typeface="+mn-ea"/>
              </a:rPr>
              <a:t>   </a:t>
            </a:r>
            <a:r>
              <a:rPr lang="zh-CN" altLang="en-US" sz="4800">
                <a:sym typeface="+mn-ea"/>
              </a:rPr>
              <a:t>稳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重</a:t>
            </a:r>
            <a:r>
              <a:rPr lang="en-US" altLang="zh-CN" sz="4800">
                <a:sym typeface="+mn-ea"/>
              </a:rPr>
              <a:t>   </a:t>
            </a:r>
            <a:r>
              <a:rPr lang="zh-CN" altLang="en-US" sz="4800">
                <a:sym typeface="+mn-ea"/>
              </a:rPr>
              <a:t>温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和</a:t>
            </a:r>
            <a:endParaRPr lang="zh-CN" altLang="en-US" sz="4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改变自我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二、能力提升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18335"/>
            <a:ext cx="503682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基础教育：跳脱应试的束缚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976880"/>
            <a:ext cx="503682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专业素养</a:t>
            </a:r>
            <a:endParaRPr lang="zh-CN" sz="2400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09040" y="5093970"/>
            <a:ext cx="614553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学无止境</a:t>
            </a:r>
            <a:endParaRPr lang="zh-CN" sz="240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9040" y="4035425"/>
            <a:ext cx="614553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扩大知识边界</a:t>
            </a:r>
            <a:endParaRPr lang="zh-CN" sz="2400">
              <a:sym typeface="+mn-ea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3656330" y="2667000"/>
            <a:ext cx="1697990" cy="768985"/>
          </a:xfrm>
          <a:prstGeom prst="wedgeRoundRectCallout">
            <a:avLst>
              <a:gd name="adj1" fmla="val -99177"/>
              <a:gd name="adj2" fmla="val 24649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有一项自己最突出的能力。</a:t>
            </a:r>
            <a:endParaRPr lang="zh-CN" altLang="en-US" b="1"/>
          </a:p>
        </p:txBody>
      </p:sp>
      <p:sp>
        <p:nvSpPr>
          <p:cNvPr id="11" name="圆角矩形标注 10"/>
          <p:cNvSpPr/>
          <p:nvPr/>
        </p:nvSpPr>
        <p:spPr>
          <a:xfrm>
            <a:off x="4410075" y="3714115"/>
            <a:ext cx="1697990" cy="768985"/>
          </a:xfrm>
          <a:prstGeom prst="wedgeRoundRectCallout">
            <a:avLst>
              <a:gd name="adj1" fmla="val -104973"/>
              <a:gd name="adj2" fmla="val 28860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可以不精通，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但一定要入门。</a:t>
            </a:r>
            <a:endParaRPr lang="zh-CN" altLang="en-US" b="1"/>
          </a:p>
        </p:txBody>
      </p:sp>
      <p:sp>
        <p:nvSpPr>
          <p:cNvPr id="12" name="圆角矩形标注 11"/>
          <p:cNvSpPr/>
          <p:nvPr/>
        </p:nvSpPr>
        <p:spPr>
          <a:xfrm>
            <a:off x="3458845" y="4907915"/>
            <a:ext cx="1203325" cy="621665"/>
          </a:xfrm>
          <a:prstGeom prst="wedgeRoundRectCallout">
            <a:avLst>
              <a:gd name="adj1" fmla="val -99177"/>
              <a:gd name="adj2" fmla="val 24649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紧跟时代</a:t>
            </a:r>
            <a:endParaRPr lang="zh-CN" altLang="en-US" b="1"/>
          </a:p>
        </p:txBody>
      </p:sp>
      <p:sp>
        <p:nvSpPr>
          <p:cNvPr id="13" name="爆炸形 1 12"/>
          <p:cNvSpPr/>
          <p:nvPr/>
        </p:nvSpPr>
        <p:spPr>
          <a:xfrm>
            <a:off x="7011670" y="2377440"/>
            <a:ext cx="3279775" cy="2236470"/>
          </a:xfrm>
          <a:prstGeom prst="irregularSeal1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2400" b="1">
                <a:sym typeface="+mn-ea"/>
              </a:rPr>
              <a:t>技多不压身</a:t>
            </a:r>
            <a:endParaRPr lang="zh-CN" altLang="en-US" sz="24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10" grpId="0" animBg="1"/>
      <p:bldP spid="10" grpId="1" animBg="1"/>
      <p:bldP spid="4" grpId="0"/>
      <p:bldP spid="4" grpId="1"/>
      <p:bldP spid="11" grpId="0" animBg="1"/>
      <p:bldP spid="11" grpId="1" animBg="1"/>
      <p:bldP spid="7" grpId="0"/>
      <p:bldP spid="7" grpId="1"/>
      <p:bldP spid="12" grpId="0" animBg="1"/>
      <p:bldP spid="12" grpId="1" animBg="1"/>
      <p:bldP spid="13" grpId="0" animBg="1"/>
      <p:bldP spid="1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改变自我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二、能力提升</a:t>
            </a:r>
            <a:endParaRPr lang="en-US" altLang="zh-CN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0900" y="2748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endParaRPr lang="zh-CN" sz="4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47900" y="2875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4800">
                <a:sym typeface="+mn-ea"/>
              </a:rPr>
              <a:t>增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强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自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我</a:t>
            </a:r>
            <a:endParaRPr lang="zh-CN" sz="4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改变自我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三、搞钱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18335"/>
            <a:ext cx="503682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物质救赎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668905"/>
            <a:ext cx="503682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物质基础</a:t>
            </a:r>
            <a:endParaRPr lang="zh-CN" sz="2400">
              <a:sym typeface="+mn-ea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3324860" y="2790825"/>
            <a:ext cx="2637790" cy="433070"/>
          </a:xfrm>
          <a:prstGeom prst="wedgeRoundRectCallout">
            <a:avLst>
              <a:gd name="adj1" fmla="val -65406"/>
              <a:gd name="adj2" fmla="val -13929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经济基础决定上层建筑</a:t>
            </a:r>
            <a:endParaRPr lang="zh-CN" altLang="en-US" b="1"/>
          </a:p>
        </p:txBody>
      </p:sp>
      <p:sp>
        <p:nvSpPr>
          <p:cNvPr id="12" name="圆角矩形标注 11"/>
          <p:cNvSpPr/>
          <p:nvPr/>
        </p:nvSpPr>
        <p:spPr>
          <a:xfrm>
            <a:off x="3206750" y="3373755"/>
            <a:ext cx="1813560" cy="768985"/>
          </a:xfrm>
          <a:prstGeom prst="wedgeRoundRectCallout">
            <a:avLst>
              <a:gd name="adj1" fmla="val -99509"/>
              <a:gd name="adj2" fmla="val -91123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想要突破什么，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就得积累什么。</a:t>
            </a:r>
            <a:endParaRPr lang="zh-CN" altLang="en-US" b="1"/>
          </a:p>
        </p:txBody>
      </p:sp>
      <p:sp>
        <p:nvSpPr>
          <p:cNvPr id="14" name="圆角矩形标注 13"/>
          <p:cNvSpPr/>
          <p:nvPr/>
        </p:nvSpPr>
        <p:spPr>
          <a:xfrm>
            <a:off x="3206750" y="1784985"/>
            <a:ext cx="2229485" cy="696595"/>
          </a:xfrm>
          <a:prstGeom prst="wedgeRoundRectCallout">
            <a:avLst>
              <a:gd name="adj1" fmla="val -65406"/>
              <a:gd name="adj2" fmla="val -13929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对个人：衣食住行</a:t>
            </a:r>
            <a:endParaRPr lang="zh-CN" altLang="en-US" b="1"/>
          </a:p>
          <a:p>
            <a:pPr algn="l">
              <a:lnSpc>
                <a:spcPct val="110000"/>
              </a:lnSpc>
            </a:pPr>
            <a:r>
              <a:rPr lang="zh-CN" altLang="en-US" b="1"/>
              <a:t>对家庭：生老病死</a:t>
            </a:r>
            <a:endParaRPr lang="zh-CN" altLang="en-US" b="1"/>
          </a:p>
        </p:txBody>
      </p:sp>
      <p:sp>
        <p:nvSpPr>
          <p:cNvPr id="15" name="圆角矩形标注 14"/>
          <p:cNvSpPr/>
          <p:nvPr/>
        </p:nvSpPr>
        <p:spPr>
          <a:xfrm>
            <a:off x="687070" y="4291965"/>
            <a:ext cx="1978660" cy="433070"/>
          </a:xfrm>
          <a:prstGeom prst="wedgeRoundRectCallout">
            <a:avLst>
              <a:gd name="adj1" fmla="val 23748"/>
              <a:gd name="adj2" fmla="val -337536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精神救赎的基础</a:t>
            </a:r>
            <a:endParaRPr lang="zh-CN" altLang="en-US" b="1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4" grpId="0" animBg="1"/>
      <p:bldP spid="14" grpId="1" animBg="1"/>
      <p:bldP spid="6" grpId="0"/>
      <p:bldP spid="6" grpId="1"/>
      <p:bldP spid="11" grpId="0" animBg="1"/>
      <p:bldP spid="11" grpId="1" animBg="1"/>
      <p:bldP spid="12" grpId="0" animBg="1"/>
      <p:bldP spid="12" grpId="1" animBg="1"/>
      <p:bldP spid="15" grpId="0" animBg="1"/>
      <p:bldP spid="1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改变自我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三、搞钱</a:t>
            </a:r>
            <a:endParaRPr lang="en-US" altLang="zh-CN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0900" y="2748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endParaRPr lang="zh-CN" sz="4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47900" y="2875915"/>
            <a:ext cx="7950200" cy="10013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4800">
                <a:sym typeface="+mn-ea"/>
              </a:rPr>
              <a:t>救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赎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之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道</a:t>
            </a:r>
            <a:r>
              <a:rPr lang="en-US" altLang="zh-CN" sz="4800">
                <a:sym typeface="+mn-ea"/>
              </a:rPr>
              <a:t>    </a:t>
            </a:r>
            <a:r>
              <a:rPr lang="zh-CN" sz="4800">
                <a:sym typeface="+mn-ea"/>
              </a:rPr>
              <a:t>就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在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其</a:t>
            </a:r>
            <a:r>
              <a:rPr lang="en-US" altLang="zh-CN" sz="4800">
                <a:sym typeface="+mn-ea"/>
              </a:rPr>
              <a:t> </a:t>
            </a:r>
            <a:r>
              <a:rPr lang="zh-CN" sz="4800">
                <a:sym typeface="+mn-ea"/>
              </a:rPr>
              <a:t>中</a:t>
            </a:r>
            <a:endParaRPr lang="en-US" altLang="zh-CN" sz="4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225800" y="2822575"/>
            <a:ext cx="5740400" cy="121285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6000">
                <a:sym typeface="+mn-ea"/>
              </a:rPr>
              <a:t>改</a:t>
            </a:r>
            <a:r>
              <a:rPr lang="en-US" altLang="zh-CN" sz="6000">
                <a:sym typeface="+mn-ea"/>
              </a:rPr>
              <a:t> </a:t>
            </a:r>
            <a:r>
              <a:rPr lang="zh-CN" sz="6000">
                <a:sym typeface="+mn-ea"/>
              </a:rPr>
              <a:t>变</a:t>
            </a:r>
            <a:r>
              <a:rPr lang="en-US" altLang="zh-CN" sz="6000">
                <a:sym typeface="+mn-ea"/>
              </a:rPr>
              <a:t> </a:t>
            </a:r>
            <a:r>
              <a:rPr lang="zh-CN" sz="6000">
                <a:sym typeface="+mn-ea"/>
              </a:rPr>
              <a:t>世</a:t>
            </a:r>
            <a:r>
              <a:rPr lang="en-US" altLang="zh-CN" sz="6000">
                <a:sym typeface="+mn-ea"/>
              </a:rPr>
              <a:t> </a:t>
            </a:r>
            <a:r>
              <a:rPr lang="zh-CN" sz="6000">
                <a:sym typeface="+mn-ea"/>
              </a:rPr>
              <a:t>界</a:t>
            </a:r>
            <a:endParaRPr lang="zh-CN" sz="6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改变世界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一、感恩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18335"/>
            <a:ext cx="503682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前提：能力基础、物质基础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816225"/>
            <a:ext cx="747649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对象：父母、老师、朋友、同学、母校、家乡</a:t>
            </a:r>
            <a:endParaRPr lang="zh-CN" sz="240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9040" y="3714115"/>
            <a:ext cx="789178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内容：经济支持、资源倾斜、精神鼓舞</a:t>
            </a:r>
            <a:endParaRPr lang="zh-CN" sz="2400">
              <a:sym typeface="+mn-ea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8092440" y="1812925"/>
            <a:ext cx="2158365" cy="680085"/>
          </a:xfrm>
          <a:prstGeom prst="wedgeRoundRectCallout">
            <a:avLst>
              <a:gd name="adj1" fmla="val -63161"/>
              <a:gd name="adj2" fmla="val 120303"/>
              <a:gd name="adj3" fmla="val 16667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zh-CN" altLang="en-US" b="1"/>
              <a:t>陪伴并塑造我们的人、事、物。</a:t>
            </a:r>
            <a:endParaRPr lang="zh-CN" altLang="en-US" b="1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10" grpId="0" animBg="1"/>
      <p:bldP spid="10" grpId="1" animBg="1"/>
      <p:bldP spid="4" grpId="0"/>
      <p:bldP spid="4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改变世界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二、公益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18335"/>
            <a:ext cx="503682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爱心捐助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816225"/>
            <a:ext cx="747649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志愿者服务</a:t>
            </a:r>
            <a:endParaRPr lang="zh-CN" sz="240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9040" y="3714115"/>
            <a:ext cx="789178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公益基金会</a:t>
            </a:r>
            <a:endParaRPr lang="zh-CN" sz="2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4" grpId="0"/>
      <p:bldP spid="4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改变世界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三、救赎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18335"/>
            <a:ext cx="503682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人类苦难</a:t>
            </a:r>
            <a:endParaRPr lang="zh-CN" altLang="en-US" sz="2400"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6740" y="581660"/>
            <a:ext cx="6949440" cy="5212080"/>
          </a:xfrm>
          <a:prstGeom prst="rect">
            <a:avLst/>
          </a:prstGeom>
        </p:spPr>
      </p:pic>
      <p:pic>
        <p:nvPicPr>
          <p:cNvPr id="16" name="图片 15" descr="R-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860" y="859790"/>
            <a:ext cx="7593965" cy="42678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220" y="1134745"/>
            <a:ext cx="7800975" cy="53136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210" y="1370330"/>
            <a:ext cx="7626985" cy="507809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995" y="1647825"/>
            <a:ext cx="7593330" cy="498348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42900" y="243840"/>
            <a:ext cx="2981960" cy="33782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改变世界</a:t>
            </a:r>
            <a:endParaRPr lang="zh-CN" altLang="en-US" sz="2000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0750" y="859790"/>
            <a:ext cx="2404110" cy="64516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>
                <a:sym typeface="+mn-ea"/>
              </a:rPr>
              <a:t>三、救赎</a:t>
            </a:r>
            <a:endParaRPr lang="zh-CN" altLang="en-US" sz="28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09040" y="1918335"/>
            <a:ext cx="503682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人类苦难</a:t>
            </a:r>
            <a:endParaRPr lang="zh-CN" altLang="en-US" sz="2400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040" y="2816225"/>
            <a:ext cx="747649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生命局限</a:t>
            </a:r>
            <a:endParaRPr lang="zh-CN" sz="240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9040" y="3714115"/>
            <a:ext cx="7891780" cy="4591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400">
                <a:sym typeface="+mn-ea"/>
              </a:rPr>
              <a:t>文明进程</a:t>
            </a:r>
            <a:endParaRPr lang="zh-CN" sz="2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4" grpId="0"/>
      <p:bldP spid="4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268855" y="2958465"/>
            <a:ext cx="8116570" cy="94043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7200"/>
              <a:t>成长</a:t>
            </a:r>
            <a:r>
              <a:rPr lang="en-US" altLang="zh-CN" sz="6600"/>
              <a:t> · </a:t>
            </a:r>
            <a:r>
              <a:rPr lang="zh-CN" altLang="en-US" sz="6600"/>
              <a:t>搞钱</a:t>
            </a:r>
            <a:r>
              <a:rPr lang="en-US" altLang="zh-CN" sz="6600"/>
              <a:t> · </a:t>
            </a:r>
            <a:r>
              <a:rPr lang="zh-CN" altLang="en-US" sz="6600"/>
              <a:t>救赎</a:t>
            </a:r>
            <a:endParaRPr lang="zh-CN" altLang="en-US" sz="66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246380" y="283210"/>
            <a:ext cx="4389120" cy="71945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en-US" altLang="zh-CN">
                <a:sym typeface="+mn-ea"/>
              </a:rPr>
              <a:t>· </a:t>
            </a:r>
            <a:r>
              <a:rPr lang="zh-CN">
                <a:sym typeface="+mn-ea"/>
              </a:rPr>
              <a:t>质疑：</a:t>
            </a:r>
            <a:endParaRPr lang="zh-CN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1030" y="1299845"/>
            <a:ext cx="10636885" cy="71945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800">
                <a:sym typeface="+mn-ea"/>
              </a:rPr>
              <a:t>现在聊这些会不会太早了？我还是个孩子啊。</a:t>
            </a:r>
            <a:endParaRPr lang="zh-CN" sz="28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1030" y="2877185"/>
            <a:ext cx="7273925" cy="71945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800">
                <a:sym typeface="+mn-ea"/>
              </a:rPr>
              <a:t>这些太远大了，臣妾做不到啊。</a:t>
            </a:r>
            <a:endParaRPr lang="zh-CN" sz="280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1030" y="4454525"/>
            <a:ext cx="4389120" cy="71945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0" indent="-457200" algn="l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2800">
                <a:sym typeface="+mn-ea"/>
              </a:rPr>
              <a:t>我还没想过这么多。</a:t>
            </a:r>
            <a:endParaRPr lang="zh-CN" sz="28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8678" r="20098"/>
          <a:stretch>
            <a:fillRect/>
          </a:stretch>
        </p:blipFill>
        <p:spPr>
          <a:xfrm>
            <a:off x="6127750" y="2877185"/>
            <a:ext cx="2445385" cy="2078990"/>
          </a:xfrm>
          <a:prstGeom prst="round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6"/>
            <p:custDataLst>
              <p:tags r:id="rId1"/>
            </p:custDataLst>
          </p:nvPr>
        </p:nvSpPr>
        <p:spPr>
          <a:xfrm>
            <a:off x="3260090" y="2529840"/>
            <a:ext cx="5671820" cy="1951355"/>
          </a:xfrm>
        </p:spPr>
        <p:txBody>
          <a:bodyPr>
            <a:no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/>
              <a:t>成长是自我觉醒</a:t>
            </a:r>
            <a:br>
              <a:rPr lang="zh-CN" altLang="en-US"/>
            </a:br>
            <a:r>
              <a:rPr lang="zh-CN" altLang="en-US"/>
              <a:t>而不是被迫接受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225800" y="2822575"/>
            <a:ext cx="5740400" cy="121285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6000">
                <a:sym typeface="+mn-ea"/>
              </a:rPr>
              <a:t>回</a:t>
            </a:r>
            <a:r>
              <a:rPr lang="en-US" altLang="zh-CN" sz="6000">
                <a:sym typeface="+mn-ea"/>
              </a:rPr>
              <a:t> </a:t>
            </a:r>
            <a:r>
              <a:rPr lang="zh-CN" sz="6000">
                <a:sym typeface="+mn-ea"/>
              </a:rPr>
              <a:t>归</a:t>
            </a:r>
            <a:r>
              <a:rPr lang="en-US" altLang="zh-CN" sz="6000">
                <a:sym typeface="+mn-ea"/>
              </a:rPr>
              <a:t> </a:t>
            </a:r>
            <a:r>
              <a:rPr lang="zh-CN" sz="6000">
                <a:sym typeface="+mn-ea"/>
              </a:rPr>
              <a:t>现</a:t>
            </a:r>
            <a:r>
              <a:rPr lang="en-US" altLang="zh-CN" sz="6000">
                <a:sym typeface="+mn-ea"/>
              </a:rPr>
              <a:t> </a:t>
            </a:r>
            <a:r>
              <a:rPr lang="zh-CN" sz="6000">
                <a:sym typeface="+mn-ea"/>
              </a:rPr>
              <a:t>实</a:t>
            </a:r>
            <a:endParaRPr lang="zh-CN" sz="6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01700" y="1555750"/>
            <a:ext cx="10636885" cy="187325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3600">
                <a:sym typeface="+mn-ea"/>
              </a:rPr>
              <a:t>当理想的风帆落回现实，</a:t>
            </a:r>
            <a:endParaRPr lang="zh-CN" sz="3600">
              <a:sym typeface="+mn-ea"/>
            </a:endParaRPr>
          </a:p>
          <a:p>
            <a:pPr lvl="0" indent="0" algn="l">
              <a:lnSpc>
                <a:spcPct val="170000"/>
              </a:lnSpc>
              <a:buClrTx/>
              <a:buSzTx/>
              <a:buFont typeface="Arial" panose="020B0604020202020204" pitchFamily="34" charset="0"/>
            </a:pPr>
            <a:r>
              <a:rPr lang="zh-CN" sz="3600">
                <a:sym typeface="+mn-ea"/>
              </a:rPr>
              <a:t>还请继续躬耕于生活的大地。</a:t>
            </a:r>
            <a:endParaRPr lang="zh-CN" sz="36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225800" y="586105"/>
            <a:ext cx="5740400" cy="500570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ctr">
              <a:lnSpc>
                <a:spcPct val="120000"/>
              </a:lnSpc>
              <a:buClrTx/>
              <a:buSzTx/>
              <a:buFont typeface="Arial" panose="020B0604020202020204" pitchFamily="34" charset="0"/>
            </a:pPr>
            <a:r>
              <a:rPr lang="zh-CN" sz="6000">
                <a:sym typeface="+mn-ea"/>
              </a:rPr>
              <a:t>未来可期</a:t>
            </a:r>
            <a:endParaRPr lang="zh-CN" sz="6000">
              <a:sym typeface="+mn-ea"/>
            </a:endParaRPr>
          </a:p>
          <a:p>
            <a:pPr lvl="0" indent="0" algn="ctr">
              <a:lnSpc>
                <a:spcPct val="120000"/>
              </a:lnSpc>
              <a:buClrTx/>
              <a:buSzTx/>
              <a:buFont typeface="Arial" panose="020B0604020202020204" pitchFamily="34" charset="0"/>
            </a:pPr>
            <a:r>
              <a:rPr lang="zh-CN" sz="6000">
                <a:sym typeface="+mn-ea"/>
              </a:rPr>
              <a:t>高考必胜</a:t>
            </a:r>
            <a:endParaRPr lang="zh-CN" sz="6000">
              <a:sym typeface="+mn-ea"/>
            </a:endParaRPr>
          </a:p>
          <a:p>
            <a:pPr lvl="0" indent="0" algn="ctr">
              <a:lnSpc>
                <a:spcPct val="120000"/>
              </a:lnSpc>
              <a:buClrTx/>
              <a:buSzTx/>
              <a:buFont typeface="Arial" panose="020B0604020202020204" pitchFamily="34" charset="0"/>
            </a:pPr>
            <a:r>
              <a:rPr lang="zh-CN" sz="6000">
                <a:sym typeface="+mn-ea"/>
              </a:rPr>
              <a:t>考研上岸</a:t>
            </a:r>
            <a:endParaRPr lang="zh-CN" sz="6000">
              <a:sym typeface="+mn-ea"/>
            </a:endParaRPr>
          </a:p>
          <a:p>
            <a:pPr lvl="0" indent="0" algn="ctr">
              <a:lnSpc>
                <a:spcPct val="120000"/>
              </a:lnSpc>
              <a:buClrTx/>
              <a:buSzTx/>
              <a:buFont typeface="Arial" panose="020B0604020202020204" pitchFamily="34" charset="0"/>
            </a:pPr>
            <a:r>
              <a:rPr lang="zh-CN" sz="6000">
                <a:sym typeface="+mn-ea"/>
              </a:rPr>
              <a:t>工作顺利</a:t>
            </a:r>
            <a:endParaRPr lang="zh-CN" sz="6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031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1"/>
  <p:tag name="KSO_WM_TEMPLATE_THUMBS_INDEX" val="1、9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8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titlestyle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031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1"/>
  <p:tag name="KSO_WM_TEMPLATE_THUMBS_INDEX" val="1、9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ID" val="custom20233600_1*a*1"/>
  <p:tag name="KSO_WM_TEMPLATE_CATEGORY" val="custom"/>
  <p:tag name="KSO_WM_TEMPLATE_INDEX" val="20233600"/>
  <p:tag name="KSO_WM_UNIT_LAYERLEVEL" val="1"/>
  <p:tag name="KSO_WM_TAG_VERSION" val="3.0"/>
  <p:tag name="KSO_WM_DIAGRAM_GROUP_CODE" val="l1-1"/>
  <p:tag name="KSO_WM_UNIT_PRESET_TEXT" val="单击此处添加标题"/>
  <p:tag name="KSO_WM_UNIT_TEXT_TYPE" val="1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ID" val="custom20233600_1*a*1"/>
  <p:tag name="KSO_WM_TEMPLATE_CATEGORY" val="custom"/>
  <p:tag name="KSO_WM_TEMPLATE_INDEX" val="20233600"/>
  <p:tag name="KSO_WM_UNIT_LAYERLEVEL" val="1"/>
  <p:tag name="KSO_WM_TAG_VERSION" val="3.0"/>
  <p:tag name="KSO_WM_DIAGRAM_GROUP_CODE" val="l1-1"/>
  <p:tag name="KSO_WM_UNIT_PRESET_TEXT" val="单击此处添加标题"/>
  <p:tag name="KSO_WM_UNIT_TEXT_TYPE" val="1"/>
</p:tagLst>
</file>

<file path=ppt/tags/tag36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ID" val="custom20233600_1*a*1"/>
  <p:tag name="KSO_WM_TEMPLATE_CATEGORY" val="custom"/>
  <p:tag name="KSO_WM_TEMPLATE_INDEX" val="20233600"/>
  <p:tag name="KSO_WM_UNIT_LAYERLEVEL" val="1"/>
  <p:tag name="KSO_WM_TAG_VERSION" val="3.0"/>
  <p:tag name="KSO_WM_DIAGRAM_GROUP_CODE" val="l1-1"/>
  <p:tag name="KSO_WM_UNIT_PRESET_TEXT" val="单击此处添加标题"/>
  <p:tag name="KSO_WM_UNIT_TEXT_TYPE" val="1"/>
</p:tagLst>
</file>

<file path=ppt/tags/tag38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ags/tag39.xml><?xml version="1.0" encoding="utf-8"?>
<p:tagLst xmlns:p="http://schemas.openxmlformats.org/presentationml/2006/main">
  <p:tag name="KSO_WM_DIAGRAM_VIRTUALLY_FRAME" val="{&quot;height&quot;:240.8,&quot;left&quot;:69.4,&quot;top&quot;:141,&quot;width&quot;:825.95}"/>
</p:tagLst>
</file>

<file path=ppt/tags/tag40.xml><?xml version="1.0" encoding="utf-8"?>
<p:tagLst xmlns:p="http://schemas.openxmlformats.org/presentationml/2006/main">
  <p:tag name="KSO_WM_DIAGRAM_VIRTUALLY_FRAME" val="{&quot;height&quot;:240.8,&quot;left&quot;:69.4,&quot;top&quot;:141,&quot;width&quot;:825.95}"/>
</p:tagLst>
</file>

<file path=ppt/tags/tag41.xml><?xml version="1.0" encoding="utf-8"?>
<p:tagLst xmlns:p="http://schemas.openxmlformats.org/presentationml/2006/main">
  <p:tag name="KSO_WM_DIAGRAM_VIRTUALLY_FRAME" val="{&quot;height&quot;:240.8,&quot;left&quot;:69.4,&quot;top&quot;:141,&quot;width&quot;:825.95}"/>
</p:tagLst>
</file>

<file path=ppt/tags/tag42.xml><?xml version="1.0" encoding="utf-8"?>
<p:tagLst xmlns:p="http://schemas.openxmlformats.org/presentationml/2006/main">
  <p:tag name="KSO_WM_DIAGRAM_VIRTUALLY_FRAME" val="{&quot;height&quot;:240.8,&quot;left&quot;:69.4,&quot;top&quot;:141,&quot;width&quot;:825.95}"/>
</p:tagLst>
</file>

<file path=ppt/tags/tag43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ags/tag44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45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46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47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48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49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50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51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52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53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54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55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56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57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58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59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60.xml><?xml version="1.0" encoding="utf-8"?>
<p:tagLst xmlns:p="http://schemas.openxmlformats.org/presentationml/2006/main">
  <p:tag name="KSO_WM_DIAGRAM_VIRTUALLY_FRAME" val="{&quot;height&quot;:385.2,&quot;left&quot;:66.05,&quot;top&quot;:75.5,&quot;width&quot;:797}"/>
</p:tagLst>
</file>

<file path=ppt/tags/tag61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311_9*a*1"/>
  <p:tag name="KSO_WM_TEMPLATE_CATEGORY" val="custom"/>
  <p:tag name="KSO_WM_TEMPLATE_INDEX" val="20230311"/>
  <p:tag name="KSO_WM_UNIT_LAYERLEVEL" val="1"/>
  <p:tag name="KSO_WM_TAG_VERSION" val="3.0"/>
</p:tagLst>
</file>

<file path=ppt/tags/tag63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64.xml><?xml version="1.0" encoding="utf-8"?>
<p:tagLst xmlns:p="http://schemas.openxmlformats.org/presentationml/2006/main">
  <p:tag name="KSO_WM_DIAGRAM_VIRTUALLY_FRAME" val="{&quot;height&quot;:271.7,&quot;left&quot;:178,&quot;top&quot;:137.35,&quot;width&quot;:117.1}"/>
</p:tagLst>
</file>

<file path=ppt/tags/tag65.xml><?xml version="1.0" encoding="utf-8"?>
<p:tagLst xmlns:p="http://schemas.openxmlformats.org/presentationml/2006/main">
  <p:tag name="KSO_WM_DIAGRAM_VIRTUALLY_FRAME" val="{&quot;height&quot;:271.7,&quot;left&quot;:178,&quot;top&quot;:137.35,&quot;width&quot;:117.1}"/>
</p:tagLst>
</file>

<file path=ppt/tags/tag66.xml><?xml version="1.0" encoding="utf-8"?>
<p:tagLst xmlns:p="http://schemas.openxmlformats.org/presentationml/2006/main">
  <p:tag name="KSO_WM_DIAGRAM_VIRTUALLY_FRAME" val="{&quot;height&quot;:271.7,&quot;left&quot;:178,&quot;top&quot;:137.35,&quot;width&quot;:117.1}"/>
</p:tagLst>
</file>

<file path=ppt/tags/tag67.xml><?xml version="1.0" encoding="utf-8"?>
<p:tagLst xmlns:p="http://schemas.openxmlformats.org/presentationml/2006/main">
  <p:tag name="KSO_WM_DIAGRAM_VIRTUALLY_FRAME" val="{&quot;height&quot;:271.7,&quot;left&quot;:178,&quot;top&quot;:137.35,&quot;width&quot;:117.1}"/>
</p:tagLst>
</file>

<file path=ppt/tags/tag68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ags/tag69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ags/tag70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71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72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73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74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75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76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77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78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79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80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81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ags/tag82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83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84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85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86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87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88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ags/tag89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90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91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92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93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94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95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ags/tag96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97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98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99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600_1*a*1"/>
  <p:tag name="KSO_WM_TEMPLATE_CATEGORY" val="custom"/>
  <p:tag name="KSO_WM_TEMPLATE_INDEX" val="2023360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</p:tagLst>
</file>

<file path=ppt/tags/tag101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ags/tag102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custom20230311_9*a*1"/>
  <p:tag name="KSO_WM_TEMPLATE_CATEGORY" val="custom"/>
  <p:tag name="KSO_WM_TEMPLATE_INDEX" val="20230311"/>
  <p:tag name="KSO_WM_UNIT_LAYERLEVEL" val="1"/>
  <p:tag name="KSO_WM_TAG_VERSION" val="3.0"/>
</p:tagLst>
</file>

<file path=ppt/tags/tag104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105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ags/tag106.xml><?xml version="1.0" encoding="utf-8"?>
<p:tagLst xmlns:p="http://schemas.openxmlformats.org/presentationml/2006/main">
  <p:tag name="KSO_WM_SLIDE_ID" val="custom20230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1"/>
  <p:tag name="KSO_WM_SLIDE_LAYOUT" val="a_f"/>
  <p:tag name="KSO_WM_SLIDE_LAYOUT_CNT" val="1_1"/>
  <p:tag name="KSO_WM_SLIDE_TYPE" val="endPage"/>
  <p:tag name="KSO_WM_SLIDE_SUBTYPE" val="pureTxt"/>
  <p:tag name="KSO_WM_SLIDE_CONTENT_AREA" val="{&quot;left&quot;:&quot;47.50008&quot;,&quot;top&quot;:&quot;152.4&quot;,&quot;width&quot;:&quot;612.5&quot;,&quot;height&quot;:&quot;244.5&quot;}"/>
</p:tagLst>
</file>

<file path=ppt/tags/tag107.xml><?xml version="1.0" encoding="utf-8"?>
<p:tagLst xmlns:p="http://schemas.openxmlformats.org/presentationml/2006/main">
  <p:tag name="KSO_WM_SLIDE_ID" val="custom20230311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1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379.35&quot;,&quot;top&quot;:&quot;120.4&quot;,&quot;width&quot;:&quot;569.05&quot;,&quot;height&quot;:&quot;244.5&quot;}"/>
</p:tagLst>
</file>

<file path=ppt/theme/theme1.xml><?xml version="1.0" encoding="utf-8"?>
<a:theme xmlns:a="http://schemas.openxmlformats.org/drawingml/2006/main" name="1_渐变胶囊简约风">
  <a:themeElements>
    <a:clrScheme name="自定义 17">
      <a:dk1>
        <a:srgbClr val="000000"/>
      </a:dk1>
      <a:lt1>
        <a:srgbClr val="FFFFFF"/>
      </a:lt1>
      <a:dk2>
        <a:srgbClr val="32107E"/>
      </a:dk2>
      <a:lt2>
        <a:srgbClr val="D8E4FB"/>
      </a:lt2>
      <a:accent1>
        <a:srgbClr val="3A76E9"/>
      </a:accent1>
      <a:accent2>
        <a:srgbClr val="6868EA"/>
      </a:accent2>
      <a:accent3>
        <a:srgbClr val="8152EA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渐变胶囊简约风">
  <a:themeElements>
    <a:clrScheme name="自定义 17">
      <a:dk1>
        <a:srgbClr val="000000"/>
      </a:dk1>
      <a:lt1>
        <a:srgbClr val="FFFFFF"/>
      </a:lt1>
      <a:dk2>
        <a:srgbClr val="32107E"/>
      </a:dk2>
      <a:lt2>
        <a:srgbClr val="D8E4FB"/>
      </a:lt2>
      <a:accent1>
        <a:srgbClr val="3A76E9"/>
      </a:accent1>
      <a:accent2>
        <a:srgbClr val="6868EA"/>
      </a:accent2>
      <a:accent3>
        <a:srgbClr val="8152EA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2564</Words>
  <Application>WPS 演示</Application>
  <PresentationFormat>宽屏</PresentationFormat>
  <Paragraphs>400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Arial</vt:lpstr>
      <vt:lpstr>宋体</vt:lpstr>
      <vt:lpstr>Wingdings</vt:lpstr>
      <vt:lpstr>MiSans</vt:lpstr>
      <vt:lpstr>微软雅黑</vt:lpstr>
      <vt:lpstr>Arial Unicode MS</vt:lpstr>
      <vt:lpstr>Calibri</vt:lpstr>
      <vt:lpstr>1_渐变胶囊简约风</vt:lpstr>
      <vt:lpstr>2_渐变胶囊简约风</vt:lpstr>
      <vt:lpstr>PowerPoint 演示文稿</vt:lpstr>
      <vt:lpstr>PowerPoint 演示文稿</vt:lpstr>
      <vt:lpstr>PowerPoint 演示文稿</vt:lpstr>
      <vt:lpstr>PowerPoint 演示文稿</vt:lpstr>
      <vt:lpstr>成长是自我觉醒 而不是被迫接受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成长是自我觉醒 而不是被迫接受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李文芳</cp:lastModifiedBy>
  <cp:revision>21</cp:revision>
  <dcterms:created xsi:type="dcterms:W3CDTF">2025-03-23T01:22:00Z</dcterms:created>
  <dcterms:modified xsi:type="dcterms:W3CDTF">2025-08-23T14:25:48Z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B75C98F4C40948689CB49D1002CA5FAC</vt:lpwstr>
  </property>
</Properties>
</file>